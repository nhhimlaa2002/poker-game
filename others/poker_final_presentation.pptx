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alsamiq Sans" panose="020B0604020202020204" charset="0"/>
      <p:regular r:id="rId11"/>
    </p:embeddedFont>
    <p:embeddedFont>
      <p:font typeface="Balsamiq Sans Bold" panose="020B0604020202020204" charset="0"/>
      <p:regular r:id="rId12"/>
    </p:embeddedFont>
    <p:embeddedFont>
      <p:font typeface="Balsamiq Sans Bold Italics" panose="020B0604020202020204" charset="0"/>
      <p:regular r:id="rId13"/>
    </p:embeddedFont>
    <p:embeddedFont>
      <p:font typeface="Balsamiq Sans Italics" panose="020B0604020202020204" charset="0"/>
      <p:regular r:id="rId14"/>
    </p:embeddedFont>
    <p:embeddedFont>
      <p:font typeface="Bobby Jones Condensed Sof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1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1055928">
            <a:off x="15783649" y="2863839"/>
            <a:ext cx="2031209" cy="2334723"/>
          </a:xfrm>
          <a:custGeom>
            <a:avLst/>
            <a:gdLst/>
            <a:ahLst/>
            <a:cxnLst/>
            <a:rect l="l" t="t" r="r" b="b"/>
            <a:pathLst>
              <a:path w="2031209" h="2334723">
                <a:moveTo>
                  <a:pt x="0" y="0"/>
                </a:moveTo>
                <a:lnTo>
                  <a:pt x="2031209" y="0"/>
                </a:lnTo>
                <a:lnTo>
                  <a:pt x="2031209" y="2334723"/>
                </a:lnTo>
                <a:lnTo>
                  <a:pt x="0" y="23347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48795">
            <a:off x="279387" y="8017274"/>
            <a:ext cx="1639465" cy="1873674"/>
          </a:xfrm>
          <a:custGeom>
            <a:avLst/>
            <a:gdLst/>
            <a:ahLst/>
            <a:cxnLst/>
            <a:rect l="l" t="t" r="r" b="b"/>
            <a:pathLst>
              <a:path w="1639465" h="1873674">
                <a:moveTo>
                  <a:pt x="0" y="0"/>
                </a:moveTo>
                <a:lnTo>
                  <a:pt x="1639465" y="0"/>
                </a:lnTo>
                <a:lnTo>
                  <a:pt x="1639465" y="1873674"/>
                </a:lnTo>
                <a:lnTo>
                  <a:pt x="0" y="1873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57674" y="286335"/>
            <a:ext cx="17172652" cy="492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39"/>
              </a:lnSpc>
            </a:pPr>
            <a:r>
              <a:rPr lang="en-US" sz="9314">
                <a:solidFill>
                  <a:srgbClr val="FFFFFF"/>
                </a:solidFill>
                <a:latin typeface="Bobby Jones Condensed Soft"/>
                <a:ea typeface="Bobby Jones Condensed Soft"/>
                <a:cs typeface="Bobby Jones Condensed Soft"/>
                <a:sym typeface="Bobby Jones Condensed Soft"/>
              </a:rPr>
              <a:t> POKER GAME SIMULATOR WITH EXPECTIMINIMAX ALGORITHM</a:t>
            </a:r>
          </a:p>
          <a:p>
            <a:pPr algn="ctr">
              <a:lnSpc>
                <a:spcPts val="13039"/>
              </a:lnSpc>
            </a:pPr>
            <a:endParaRPr lang="en-US" sz="9314">
              <a:solidFill>
                <a:srgbClr val="FFFFFF"/>
              </a:solidFill>
              <a:latin typeface="Bobby Jones Condensed Soft"/>
              <a:ea typeface="Bobby Jones Condensed Soft"/>
              <a:cs typeface="Bobby Jones Condensed Soft"/>
              <a:sym typeface="Bobby Jones Condensed Sof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581360" y="4903624"/>
            <a:ext cx="5229640" cy="555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Balsamiq Sans"/>
                <a:ea typeface="Balsamiq Sans"/>
                <a:cs typeface="Balsamiq Sans"/>
                <a:sym typeface="Balsamiq Sans"/>
              </a:rPr>
              <a:t>A Presentation by Group 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64306" y="6323417"/>
            <a:ext cx="9467501" cy="335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i="1">
                <a:solidFill>
                  <a:srgbClr val="FFFFFF"/>
                </a:solidFill>
                <a:latin typeface="Balsamiq Sans Italics"/>
                <a:ea typeface="Balsamiq Sans Italics"/>
                <a:cs typeface="Balsamiq Sans Italics"/>
                <a:sym typeface="Balsamiq Sans Italics"/>
              </a:rPr>
              <a:t>Nadira Halim Himla 2221920642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i="1">
                <a:solidFill>
                  <a:srgbClr val="FFFFFF"/>
                </a:solidFill>
                <a:latin typeface="Balsamiq Sans Italics"/>
                <a:ea typeface="Balsamiq Sans Italics"/>
                <a:cs typeface="Balsamiq Sans Italics"/>
                <a:sym typeface="Balsamiq Sans Italics"/>
              </a:rPr>
              <a:t>Sajiah Islam Chowdhury 2212447642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i="1">
                <a:solidFill>
                  <a:srgbClr val="FFFFFF"/>
                </a:solidFill>
                <a:latin typeface="Balsamiq Sans Italics"/>
                <a:ea typeface="Balsamiq Sans Italics"/>
                <a:cs typeface="Balsamiq Sans Italics"/>
                <a:sym typeface="Balsamiq Sans Italics"/>
              </a:rPr>
              <a:t>S. Anam Ridwan Shanto 2022563042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i="1">
                <a:solidFill>
                  <a:srgbClr val="FFFFFF"/>
                </a:solidFill>
                <a:latin typeface="Balsamiq Sans Italics"/>
                <a:ea typeface="Balsamiq Sans Italics"/>
                <a:cs typeface="Balsamiq Sans Italics"/>
                <a:sym typeface="Balsamiq Sans Italics"/>
              </a:rPr>
              <a:t>Mohammad Robiul Islam Hasib 1911677642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i="1">
                <a:solidFill>
                  <a:srgbClr val="FFFFFF"/>
                </a:solidFill>
                <a:latin typeface="Balsamiq Sans Italics"/>
                <a:ea typeface="Balsamiq Sans Italics"/>
                <a:cs typeface="Balsamiq Sans Italics"/>
                <a:sym typeface="Balsamiq Sans Italics"/>
              </a:rPr>
              <a:t>Isnat Hossain Rijon 2211203042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 i="1">
              <a:solidFill>
                <a:srgbClr val="FFFFFF"/>
              </a:solidFill>
              <a:latin typeface="Balsamiq Sans Italics"/>
              <a:ea typeface="Balsamiq Sans Italics"/>
              <a:cs typeface="Balsamiq Sans Italics"/>
              <a:sym typeface="Balsamiq Sans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374360" y="8406741"/>
            <a:ext cx="4161040" cy="555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i="1" dirty="0">
                <a:solidFill>
                  <a:srgbClr val="FFFFFF"/>
                </a:solidFill>
                <a:latin typeface="Balsamiq Sans Italics"/>
                <a:ea typeface="Balsamiq Sans Italics"/>
                <a:cs typeface="Balsamiq Sans Italics"/>
                <a:sym typeface="Balsamiq Sans Italics"/>
              </a:rPr>
              <a:t>CSE440 | SECTION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79213" y="3152433"/>
            <a:ext cx="3911274" cy="2863209"/>
            <a:chOff x="0" y="0"/>
            <a:chExt cx="1148592" cy="8408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8592" cy="840815"/>
            </a:xfrm>
            <a:custGeom>
              <a:avLst/>
              <a:gdLst/>
              <a:ahLst/>
              <a:cxnLst/>
              <a:rect l="l" t="t" r="r" b="b"/>
              <a:pathLst>
                <a:path w="1148592" h="840815">
                  <a:moveTo>
                    <a:pt x="100949" y="0"/>
                  </a:moveTo>
                  <a:lnTo>
                    <a:pt x="1047643" y="0"/>
                  </a:lnTo>
                  <a:cubicBezTo>
                    <a:pt x="1074416" y="0"/>
                    <a:pt x="1100093" y="10636"/>
                    <a:pt x="1119024" y="29567"/>
                  </a:cubicBezTo>
                  <a:cubicBezTo>
                    <a:pt x="1137956" y="48499"/>
                    <a:pt x="1148592" y="74175"/>
                    <a:pt x="1148592" y="100949"/>
                  </a:cubicBezTo>
                  <a:lnTo>
                    <a:pt x="1148592" y="739866"/>
                  </a:lnTo>
                  <a:cubicBezTo>
                    <a:pt x="1148592" y="766639"/>
                    <a:pt x="1137956" y="792316"/>
                    <a:pt x="1119024" y="811248"/>
                  </a:cubicBezTo>
                  <a:cubicBezTo>
                    <a:pt x="1100093" y="830179"/>
                    <a:pt x="1074416" y="840815"/>
                    <a:pt x="1047643" y="840815"/>
                  </a:cubicBezTo>
                  <a:lnTo>
                    <a:pt x="100949" y="840815"/>
                  </a:lnTo>
                  <a:cubicBezTo>
                    <a:pt x="74175" y="840815"/>
                    <a:pt x="48499" y="830179"/>
                    <a:pt x="29567" y="811248"/>
                  </a:cubicBezTo>
                  <a:cubicBezTo>
                    <a:pt x="10636" y="792316"/>
                    <a:pt x="0" y="766639"/>
                    <a:pt x="0" y="739866"/>
                  </a:cubicBezTo>
                  <a:lnTo>
                    <a:pt x="0" y="100949"/>
                  </a:lnTo>
                  <a:cubicBezTo>
                    <a:pt x="0" y="74175"/>
                    <a:pt x="10636" y="48499"/>
                    <a:pt x="29567" y="29567"/>
                  </a:cubicBezTo>
                  <a:cubicBezTo>
                    <a:pt x="48499" y="10636"/>
                    <a:pt x="74175" y="0"/>
                    <a:pt x="100949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8592" cy="878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14718">
            <a:off x="12213589" y="3160948"/>
            <a:ext cx="3984086" cy="2895040"/>
            <a:chOff x="0" y="0"/>
            <a:chExt cx="1098287" cy="7980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8287" cy="798072"/>
            </a:xfrm>
            <a:custGeom>
              <a:avLst/>
              <a:gdLst/>
              <a:ahLst/>
              <a:cxnLst/>
              <a:rect l="l" t="t" r="r" b="b"/>
              <a:pathLst>
                <a:path w="1098287" h="798072">
                  <a:moveTo>
                    <a:pt x="99104" y="0"/>
                  </a:moveTo>
                  <a:lnTo>
                    <a:pt x="999184" y="0"/>
                  </a:lnTo>
                  <a:cubicBezTo>
                    <a:pt x="1053917" y="0"/>
                    <a:pt x="1098287" y="44370"/>
                    <a:pt x="1098287" y="99104"/>
                  </a:cubicBezTo>
                  <a:lnTo>
                    <a:pt x="1098287" y="698968"/>
                  </a:lnTo>
                  <a:cubicBezTo>
                    <a:pt x="1098287" y="753701"/>
                    <a:pt x="1053917" y="798072"/>
                    <a:pt x="999184" y="798072"/>
                  </a:cubicBezTo>
                  <a:lnTo>
                    <a:pt x="99104" y="798072"/>
                  </a:lnTo>
                  <a:cubicBezTo>
                    <a:pt x="44370" y="798072"/>
                    <a:pt x="0" y="753701"/>
                    <a:pt x="0" y="698968"/>
                  </a:cubicBezTo>
                  <a:lnTo>
                    <a:pt x="0" y="99104"/>
                  </a:lnTo>
                  <a:cubicBezTo>
                    <a:pt x="0" y="44370"/>
                    <a:pt x="44370" y="0"/>
                    <a:pt x="99104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98287" cy="836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95080" y="6064504"/>
            <a:ext cx="4170060" cy="3030178"/>
            <a:chOff x="0" y="0"/>
            <a:chExt cx="1098287" cy="7980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287" cy="798072"/>
            </a:xfrm>
            <a:custGeom>
              <a:avLst/>
              <a:gdLst/>
              <a:ahLst/>
              <a:cxnLst/>
              <a:rect l="l" t="t" r="r" b="b"/>
              <a:pathLst>
                <a:path w="1098287" h="798072">
                  <a:moveTo>
                    <a:pt x="94684" y="0"/>
                  </a:moveTo>
                  <a:lnTo>
                    <a:pt x="1003603" y="0"/>
                  </a:lnTo>
                  <a:cubicBezTo>
                    <a:pt x="1055896" y="0"/>
                    <a:pt x="1098287" y="42391"/>
                    <a:pt x="1098287" y="94684"/>
                  </a:cubicBezTo>
                  <a:lnTo>
                    <a:pt x="1098287" y="703388"/>
                  </a:lnTo>
                  <a:cubicBezTo>
                    <a:pt x="1098287" y="755680"/>
                    <a:pt x="1055896" y="798072"/>
                    <a:pt x="1003603" y="798072"/>
                  </a:cubicBezTo>
                  <a:lnTo>
                    <a:pt x="94684" y="798072"/>
                  </a:lnTo>
                  <a:cubicBezTo>
                    <a:pt x="42391" y="798072"/>
                    <a:pt x="0" y="755680"/>
                    <a:pt x="0" y="703388"/>
                  </a:cubicBezTo>
                  <a:lnTo>
                    <a:pt x="0" y="94684"/>
                  </a:lnTo>
                  <a:cubicBezTo>
                    <a:pt x="0" y="42391"/>
                    <a:pt x="42391" y="0"/>
                    <a:pt x="94684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98287" cy="836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796935" y="7259329"/>
            <a:ext cx="720774" cy="720774"/>
          </a:xfrm>
          <a:custGeom>
            <a:avLst/>
            <a:gdLst/>
            <a:ahLst/>
            <a:cxnLst/>
            <a:rect l="l" t="t" r="r" b="b"/>
            <a:pathLst>
              <a:path w="720774" h="720774">
                <a:moveTo>
                  <a:pt x="0" y="0"/>
                </a:moveTo>
                <a:lnTo>
                  <a:pt x="720774" y="0"/>
                </a:lnTo>
                <a:lnTo>
                  <a:pt x="720774" y="720775"/>
                </a:lnTo>
                <a:lnTo>
                  <a:pt x="0" y="720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551990" y="7213134"/>
            <a:ext cx="724786" cy="766970"/>
          </a:xfrm>
          <a:custGeom>
            <a:avLst/>
            <a:gdLst/>
            <a:ahLst/>
            <a:cxnLst/>
            <a:rect l="l" t="t" r="r" b="b"/>
            <a:pathLst>
              <a:path w="724786" h="766970">
                <a:moveTo>
                  <a:pt x="0" y="0"/>
                </a:moveTo>
                <a:lnTo>
                  <a:pt x="724786" y="0"/>
                </a:lnTo>
                <a:lnTo>
                  <a:pt x="724786" y="766970"/>
                </a:lnTo>
                <a:lnTo>
                  <a:pt x="0" y="766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441291" y="7213134"/>
            <a:ext cx="896028" cy="943187"/>
          </a:xfrm>
          <a:custGeom>
            <a:avLst/>
            <a:gdLst/>
            <a:ahLst/>
            <a:cxnLst/>
            <a:rect l="l" t="t" r="r" b="b"/>
            <a:pathLst>
              <a:path w="896028" h="943187">
                <a:moveTo>
                  <a:pt x="0" y="0"/>
                </a:moveTo>
                <a:lnTo>
                  <a:pt x="896028" y="0"/>
                </a:lnTo>
                <a:lnTo>
                  <a:pt x="896028" y="943187"/>
                </a:lnTo>
                <a:lnTo>
                  <a:pt x="0" y="9431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380457" y="7200900"/>
            <a:ext cx="692680" cy="955421"/>
          </a:xfrm>
          <a:custGeom>
            <a:avLst/>
            <a:gdLst/>
            <a:ahLst/>
            <a:cxnLst/>
            <a:rect l="l" t="t" r="r" b="b"/>
            <a:pathLst>
              <a:path w="692680" h="955421">
                <a:moveTo>
                  <a:pt x="0" y="0"/>
                </a:moveTo>
                <a:lnTo>
                  <a:pt x="692681" y="0"/>
                </a:lnTo>
                <a:lnTo>
                  <a:pt x="692681" y="955421"/>
                </a:lnTo>
                <a:lnTo>
                  <a:pt x="0" y="955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196244" y="3926843"/>
            <a:ext cx="1305408" cy="861569"/>
          </a:xfrm>
          <a:custGeom>
            <a:avLst/>
            <a:gdLst/>
            <a:ahLst/>
            <a:cxnLst/>
            <a:rect l="l" t="t" r="r" b="b"/>
            <a:pathLst>
              <a:path w="1305408" h="861569">
                <a:moveTo>
                  <a:pt x="0" y="0"/>
                </a:moveTo>
                <a:lnTo>
                  <a:pt x="1305408" y="0"/>
                </a:lnTo>
                <a:lnTo>
                  <a:pt x="1305408" y="861569"/>
                </a:lnTo>
                <a:lnTo>
                  <a:pt x="0" y="8615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420768" y="981075"/>
            <a:ext cx="9447632" cy="688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8"/>
              </a:lnSpc>
              <a:spcBef>
                <a:spcPct val="0"/>
              </a:spcBef>
            </a:pPr>
            <a:r>
              <a:rPr lang="en-US" sz="4143" b="1" spc="111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Why Poker Breaks Classical Search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19292" y="3898268"/>
            <a:ext cx="3338507" cy="389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9"/>
              </a:lnSpc>
              <a:spcBef>
                <a:spcPct val="0"/>
              </a:spcBef>
            </a:pPr>
            <a:r>
              <a:rPr lang="en-US" sz="2370" b="1" i="1" spc="64" dirty="0">
                <a:solidFill>
                  <a:srgbClr val="CD373A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Imperfect Information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52311" y="4497091"/>
            <a:ext cx="2785472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9"/>
              </a:lnSpc>
              <a:spcBef>
                <a:spcPct val="0"/>
              </a:spcBef>
            </a:pPr>
            <a:r>
              <a:rPr lang="en-US" sz="2370" spc="64" dirty="0">
                <a:solidFill>
                  <a:srgbClr val="CD373A"/>
                </a:solidFill>
                <a:latin typeface="Balsamiq Sans"/>
                <a:ea typeface="Balsamiq Sans"/>
                <a:cs typeface="Balsamiq Sans"/>
                <a:sym typeface="Balsamiq Sans"/>
              </a:rPr>
              <a:t>Opponent hole </a:t>
            </a:r>
          </a:p>
          <a:p>
            <a:pPr algn="ctr">
              <a:lnSpc>
                <a:spcPts val="3129"/>
              </a:lnSpc>
              <a:spcBef>
                <a:spcPct val="0"/>
              </a:spcBef>
            </a:pPr>
            <a:r>
              <a:rPr lang="en-US" sz="2370" spc="64" dirty="0">
                <a:solidFill>
                  <a:srgbClr val="CD373A"/>
                </a:solidFill>
                <a:latin typeface="Balsamiq Sans"/>
                <a:ea typeface="Balsamiq Sans"/>
                <a:cs typeface="Balsamiq Sans"/>
                <a:sym typeface="Balsamiq Sans"/>
              </a:rPr>
              <a:t>cards are private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87785" y="6559532"/>
            <a:ext cx="2184648" cy="87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i="1" spc="71">
                <a:solidFill>
                  <a:srgbClr val="CD373A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Randomness</a:t>
            </a:r>
          </a:p>
        </p:txBody>
      </p:sp>
      <p:sp>
        <p:nvSpPr>
          <p:cNvPr id="21" name="TextBox 21"/>
          <p:cNvSpPr txBox="1"/>
          <p:nvPr/>
        </p:nvSpPr>
        <p:spPr>
          <a:xfrm rot="96076">
            <a:off x="7581820" y="7315735"/>
            <a:ext cx="3117652" cy="87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spc="71">
                <a:solidFill>
                  <a:srgbClr val="CD373A"/>
                </a:solidFill>
                <a:latin typeface="Balsamiq Sans"/>
                <a:ea typeface="Balsamiq Sans"/>
                <a:cs typeface="Balsamiq Sans"/>
                <a:sym typeface="Balsamiq Sans"/>
              </a:rPr>
              <a:t>Community cards </a:t>
            </a:r>
          </a:p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spc="71">
                <a:solidFill>
                  <a:srgbClr val="CD373A"/>
                </a:solidFill>
                <a:latin typeface="Balsamiq Sans"/>
                <a:ea typeface="Balsamiq Sans"/>
                <a:cs typeface="Balsamiq Sans"/>
                <a:sym typeface="Balsamiq Sans"/>
              </a:rPr>
              <a:t>are dealt randomly.</a:t>
            </a:r>
          </a:p>
        </p:txBody>
      </p:sp>
      <p:sp>
        <p:nvSpPr>
          <p:cNvPr id="22" name="TextBox 22"/>
          <p:cNvSpPr txBox="1"/>
          <p:nvPr/>
        </p:nvSpPr>
        <p:spPr>
          <a:xfrm rot="5956">
            <a:off x="12469632" y="3698680"/>
            <a:ext cx="3207077" cy="41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3"/>
              </a:lnSpc>
              <a:spcBef>
                <a:spcPct val="0"/>
              </a:spcBef>
            </a:pPr>
            <a:r>
              <a:rPr lang="en-US" sz="2525" b="1" i="1" spc="68">
                <a:solidFill>
                  <a:srgbClr val="CD373A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Minimax Falls Short</a:t>
            </a:r>
          </a:p>
        </p:txBody>
      </p:sp>
      <p:sp>
        <p:nvSpPr>
          <p:cNvPr id="23" name="TextBox 23"/>
          <p:cNvSpPr txBox="1"/>
          <p:nvPr/>
        </p:nvSpPr>
        <p:spPr>
          <a:xfrm rot="2356">
            <a:off x="13074375" y="4262810"/>
            <a:ext cx="2262874" cy="1255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33"/>
              </a:lnSpc>
              <a:spcBef>
                <a:spcPct val="0"/>
              </a:spcBef>
            </a:pPr>
            <a:r>
              <a:rPr lang="en-US" sz="2525" spc="68" dirty="0">
                <a:solidFill>
                  <a:srgbClr val="CD373A"/>
                </a:solidFill>
                <a:latin typeface="Balsamiq Sans"/>
                <a:ea typeface="Balsamiq Sans"/>
                <a:cs typeface="Balsamiq Sans"/>
                <a:sym typeface="Balsamiq Sans"/>
              </a:rPr>
              <a:t>Assumes no </a:t>
            </a:r>
          </a:p>
          <a:p>
            <a:pPr algn="ctr">
              <a:lnSpc>
                <a:spcPts val="3333"/>
              </a:lnSpc>
              <a:spcBef>
                <a:spcPct val="0"/>
              </a:spcBef>
            </a:pPr>
            <a:r>
              <a:rPr lang="en-US" sz="2525" spc="68" dirty="0">
                <a:solidFill>
                  <a:srgbClr val="CD373A"/>
                </a:solidFill>
                <a:latin typeface="Balsamiq Sans"/>
                <a:ea typeface="Balsamiq Sans"/>
                <a:cs typeface="Balsamiq Sans"/>
                <a:sym typeface="Balsamiq Sans"/>
              </a:rPr>
              <a:t>randomness in</a:t>
            </a:r>
          </a:p>
          <a:p>
            <a:pPr algn="ctr">
              <a:lnSpc>
                <a:spcPts val="3333"/>
              </a:lnSpc>
              <a:spcBef>
                <a:spcPct val="0"/>
              </a:spcBef>
            </a:pPr>
            <a:r>
              <a:rPr lang="en-US" sz="2525" spc="68" dirty="0">
                <a:solidFill>
                  <a:srgbClr val="CD373A"/>
                </a:solidFill>
                <a:latin typeface="Balsamiq Sans"/>
                <a:ea typeface="Balsamiq Sans"/>
                <a:cs typeface="Balsamiq Sans"/>
                <a:sym typeface="Balsamiq Sans"/>
              </a:rPr>
              <a:t> future states.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E3F136-EDE3-7152-9D0F-48343469ED67}"/>
              </a:ext>
            </a:extLst>
          </p:cNvPr>
          <p:cNvSpPr txBox="1"/>
          <p:nvPr/>
        </p:nvSpPr>
        <p:spPr>
          <a:xfrm>
            <a:off x="1829991" y="9769405"/>
            <a:ext cx="14621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07 | Section 01   —   Nadira Halim Himla • Sajiah Islam Chowdhury • S. Anam Ridwan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Mohammad Robiul Islam Hasib •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Isnat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Hossain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7996" y="2472983"/>
            <a:ext cx="3074005" cy="1511714"/>
            <a:chOff x="0" y="0"/>
            <a:chExt cx="852222" cy="419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2222" cy="419100"/>
            </a:xfrm>
            <a:custGeom>
              <a:avLst/>
              <a:gdLst/>
              <a:ahLst/>
              <a:cxnLst/>
              <a:rect l="l" t="t" r="r" b="b"/>
              <a:pathLst>
                <a:path w="852222" h="419100">
                  <a:moveTo>
                    <a:pt x="49190" y="0"/>
                  </a:moveTo>
                  <a:lnTo>
                    <a:pt x="803032" y="0"/>
                  </a:lnTo>
                  <a:cubicBezTo>
                    <a:pt x="816078" y="0"/>
                    <a:pt x="828590" y="5182"/>
                    <a:pt x="837815" y="14407"/>
                  </a:cubicBezTo>
                  <a:cubicBezTo>
                    <a:pt x="847039" y="23632"/>
                    <a:pt x="852222" y="36144"/>
                    <a:pt x="852222" y="49190"/>
                  </a:cubicBezTo>
                  <a:lnTo>
                    <a:pt x="852222" y="369910"/>
                  </a:lnTo>
                  <a:cubicBezTo>
                    <a:pt x="852222" y="382956"/>
                    <a:pt x="847039" y="395468"/>
                    <a:pt x="837815" y="404693"/>
                  </a:cubicBezTo>
                  <a:cubicBezTo>
                    <a:pt x="828590" y="413918"/>
                    <a:pt x="816078" y="419100"/>
                    <a:pt x="803032" y="419100"/>
                  </a:cubicBezTo>
                  <a:lnTo>
                    <a:pt x="49190" y="419100"/>
                  </a:lnTo>
                  <a:cubicBezTo>
                    <a:pt x="36144" y="419100"/>
                    <a:pt x="23632" y="413918"/>
                    <a:pt x="14407" y="404693"/>
                  </a:cubicBezTo>
                  <a:cubicBezTo>
                    <a:pt x="5182" y="395468"/>
                    <a:pt x="0" y="382956"/>
                    <a:pt x="0" y="369910"/>
                  </a:cubicBezTo>
                  <a:lnTo>
                    <a:pt x="0" y="49190"/>
                  </a:lnTo>
                  <a:cubicBezTo>
                    <a:pt x="0" y="36144"/>
                    <a:pt x="5182" y="23632"/>
                    <a:pt x="14407" y="14407"/>
                  </a:cubicBezTo>
                  <a:cubicBezTo>
                    <a:pt x="23632" y="5182"/>
                    <a:pt x="36144" y="0"/>
                    <a:pt x="49190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52222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67996" y="4584772"/>
            <a:ext cx="3110826" cy="1582244"/>
            <a:chOff x="0" y="0"/>
            <a:chExt cx="745012" cy="3789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5012" cy="378932"/>
            </a:xfrm>
            <a:custGeom>
              <a:avLst/>
              <a:gdLst/>
              <a:ahLst/>
              <a:cxnLst/>
              <a:rect l="l" t="t" r="r" b="b"/>
              <a:pathLst>
                <a:path w="745012" h="378932">
                  <a:moveTo>
                    <a:pt x="48607" y="0"/>
                  </a:moveTo>
                  <a:lnTo>
                    <a:pt x="696404" y="0"/>
                  </a:lnTo>
                  <a:cubicBezTo>
                    <a:pt x="723250" y="0"/>
                    <a:pt x="745012" y="21762"/>
                    <a:pt x="745012" y="48607"/>
                  </a:cubicBezTo>
                  <a:lnTo>
                    <a:pt x="745012" y="330324"/>
                  </a:lnTo>
                  <a:cubicBezTo>
                    <a:pt x="745012" y="357170"/>
                    <a:pt x="723250" y="378932"/>
                    <a:pt x="696404" y="378932"/>
                  </a:cubicBezTo>
                  <a:lnTo>
                    <a:pt x="48607" y="378932"/>
                  </a:lnTo>
                  <a:cubicBezTo>
                    <a:pt x="21762" y="378932"/>
                    <a:pt x="0" y="357170"/>
                    <a:pt x="0" y="330324"/>
                  </a:cubicBezTo>
                  <a:lnTo>
                    <a:pt x="0" y="48607"/>
                  </a:lnTo>
                  <a:cubicBezTo>
                    <a:pt x="0" y="21762"/>
                    <a:pt x="21762" y="0"/>
                    <a:pt x="48607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45012" cy="417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7996" y="6741542"/>
            <a:ext cx="3297581" cy="1637787"/>
            <a:chOff x="0" y="0"/>
            <a:chExt cx="678515" cy="3369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8515" cy="336993"/>
            </a:xfrm>
            <a:custGeom>
              <a:avLst/>
              <a:gdLst/>
              <a:ahLst/>
              <a:cxnLst/>
              <a:rect l="l" t="t" r="r" b="b"/>
              <a:pathLst>
                <a:path w="678515" h="336993">
                  <a:moveTo>
                    <a:pt x="45855" y="0"/>
                  </a:moveTo>
                  <a:lnTo>
                    <a:pt x="632660" y="0"/>
                  </a:lnTo>
                  <a:cubicBezTo>
                    <a:pt x="657985" y="0"/>
                    <a:pt x="678515" y="20530"/>
                    <a:pt x="678515" y="45855"/>
                  </a:cubicBezTo>
                  <a:lnTo>
                    <a:pt x="678515" y="291139"/>
                  </a:lnTo>
                  <a:cubicBezTo>
                    <a:pt x="678515" y="316463"/>
                    <a:pt x="657985" y="336993"/>
                    <a:pt x="632660" y="336993"/>
                  </a:cubicBezTo>
                  <a:lnTo>
                    <a:pt x="45855" y="336993"/>
                  </a:lnTo>
                  <a:cubicBezTo>
                    <a:pt x="20530" y="336993"/>
                    <a:pt x="0" y="316463"/>
                    <a:pt x="0" y="291139"/>
                  </a:cubicBezTo>
                  <a:lnTo>
                    <a:pt x="0" y="45855"/>
                  </a:lnTo>
                  <a:cubicBezTo>
                    <a:pt x="0" y="20530"/>
                    <a:pt x="20530" y="0"/>
                    <a:pt x="45855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78515" cy="375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79520" y="5113335"/>
            <a:ext cx="3424982" cy="1635859"/>
            <a:chOff x="0" y="0"/>
            <a:chExt cx="877465" cy="419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7465" cy="419100"/>
            </a:xfrm>
            <a:custGeom>
              <a:avLst/>
              <a:gdLst/>
              <a:ahLst/>
              <a:cxnLst/>
              <a:rect l="l" t="t" r="r" b="b"/>
              <a:pathLst>
                <a:path w="877465" h="419100">
                  <a:moveTo>
                    <a:pt x="44149" y="0"/>
                  </a:moveTo>
                  <a:lnTo>
                    <a:pt x="833316" y="0"/>
                  </a:lnTo>
                  <a:cubicBezTo>
                    <a:pt x="857699" y="0"/>
                    <a:pt x="877465" y="19766"/>
                    <a:pt x="877465" y="44149"/>
                  </a:cubicBezTo>
                  <a:lnTo>
                    <a:pt x="877465" y="374951"/>
                  </a:lnTo>
                  <a:cubicBezTo>
                    <a:pt x="877465" y="399334"/>
                    <a:pt x="857699" y="419100"/>
                    <a:pt x="833316" y="419100"/>
                  </a:cubicBezTo>
                  <a:lnTo>
                    <a:pt x="44149" y="419100"/>
                  </a:lnTo>
                  <a:cubicBezTo>
                    <a:pt x="19766" y="419100"/>
                    <a:pt x="0" y="399334"/>
                    <a:pt x="0" y="374951"/>
                  </a:cubicBezTo>
                  <a:lnTo>
                    <a:pt x="0" y="44149"/>
                  </a:lnTo>
                  <a:cubicBezTo>
                    <a:pt x="0" y="19766"/>
                    <a:pt x="19766" y="0"/>
                    <a:pt x="44149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77465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19971" y="7559472"/>
            <a:ext cx="3416005" cy="1698828"/>
            <a:chOff x="0" y="0"/>
            <a:chExt cx="842726" cy="419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42726" cy="419100"/>
            </a:xfrm>
            <a:custGeom>
              <a:avLst/>
              <a:gdLst/>
              <a:ahLst/>
              <a:cxnLst/>
              <a:rect l="l" t="t" r="r" b="b"/>
              <a:pathLst>
                <a:path w="842726" h="419100">
                  <a:moveTo>
                    <a:pt x="44265" y="0"/>
                  </a:moveTo>
                  <a:lnTo>
                    <a:pt x="798461" y="0"/>
                  </a:lnTo>
                  <a:cubicBezTo>
                    <a:pt x="822908" y="0"/>
                    <a:pt x="842726" y="19818"/>
                    <a:pt x="842726" y="44265"/>
                  </a:cubicBezTo>
                  <a:lnTo>
                    <a:pt x="842726" y="374835"/>
                  </a:lnTo>
                  <a:cubicBezTo>
                    <a:pt x="842726" y="386575"/>
                    <a:pt x="838063" y="397834"/>
                    <a:pt x="829762" y="406135"/>
                  </a:cubicBezTo>
                  <a:cubicBezTo>
                    <a:pt x="821460" y="414436"/>
                    <a:pt x="810201" y="419100"/>
                    <a:pt x="798461" y="419100"/>
                  </a:cubicBezTo>
                  <a:lnTo>
                    <a:pt x="44265" y="419100"/>
                  </a:lnTo>
                  <a:cubicBezTo>
                    <a:pt x="32525" y="419100"/>
                    <a:pt x="21266" y="414436"/>
                    <a:pt x="12965" y="406135"/>
                  </a:cubicBezTo>
                  <a:cubicBezTo>
                    <a:pt x="4664" y="397834"/>
                    <a:pt x="0" y="386575"/>
                    <a:pt x="0" y="374835"/>
                  </a:cubicBezTo>
                  <a:lnTo>
                    <a:pt x="0" y="44265"/>
                  </a:lnTo>
                  <a:cubicBezTo>
                    <a:pt x="0" y="32525"/>
                    <a:pt x="4664" y="21266"/>
                    <a:pt x="12965" y="12965"/>
                  </a:cubicBezTo>
                  <a:cubicBezTo>
                    <a:pt x="21266" y="4664"/>
                    <a:pt x="32525" y="0"/>
                    <a:pt x="44265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42726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4465577" y="5931264"/>
            <a:ext cx="1613943" cy="162917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4465577" y="7560435"/>
            <a:ext cx="1654395" cy="848450"/>
          </a:xfrm>
          <a:prstGeom prst="line">
            <a:avLst/>
          </a:prstGeom>
          <a:ln w="38100" cap="flat">
            <a:solidFill>
              <a:srgbClr val="E8E5E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0420350" y="5918986"/>
            <a:ext cx="3086100" cy="2036826"/>
            <a:chOff x="0" y="0"/>
            <a:chExt cx="635000" cy="419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173200" y="5918986"/>
            <a:ext cx="3086100" cy="2036826"/>
            <a:chOff x="0" y="0"/>
            <a:chExt cx="635000" cy="419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FFFFFA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9504501" y="5931264"/>
            <a:ext cx="915849" cy="100613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V="1">
            <a:off x="9535976" y="6937399"/>
            <a:ext cx="884374" cy="147148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/>
          <p:cNvSpPr txBox="1"/>
          <p:nvPr/>
        </p:nvSpPr>
        <p:spPr>
          <a:xfrm>
            <a:off x="1713570" y="7335654"/>
            <a:ext cx="2167384" cy="43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Game Engine</a:t>
            </a:r>
          </a:p>
        </p:txBody>
      </p:sp>
      <p:sp>
        <p:nvSpPr>
          <p:cNvPr id="29" name="AutoShape 29"/>
          <p:cNvSpPr/>
          <p:nvPr/>
        </p:nvSpPr>
        <p:spPr>
          <a:xfrm>
            <a:off x="2704998" y="3984697"/>
            <a:ext cx="18410" cy="60007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flipH="1">
            <a:off x="2704997" y="6167017"/>
            <a:ext cx="18411" cy="62511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13506450" y="6937399"/>
            <a:ext cx="666750" cy="7901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Freeform 32"/>
          <p:cNvSpPr/>
          <p:nvPr/>
        </p:nvSpPr>
        <p:spPr>
          <a:xfrm rot="1449872">
            <a:off x="14764420" y="1996022"/>
            <a:ext cx="1111703" cy="1033883"/>
          </a:xfrm>
          <a:custGeom>
            <a:avLst/>
            <a:gdLst/>
            <a:ahLst/>
            <a:cxnLst/>
            <a:rect l="l" t="t" r="r" b="b"/>
            <a:pathLst>
              <a:path w="1111703" h="1033883">
                <a:moveTo>
                  <a:pt x="0" y="0"/>
                </a:moveTo>
                <a:lnTo>
                  <a:pt x="1111702" y="0"/>
                </a:lnTo>
                <a:lnTo>
                  <a:pt x="1111702" y="1033883"/>
                </a:lnTo>
                <a:lnTo>
                  <a:pt x="0" y="1033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818413" flipH="1">
            <a:off x="15483178" y="2393892"/>
            <a:ext cx="1111703" cy="1033883"/>
          </a:xfrm>
          <a:custGeom>
            <a:avLst/>
            <a:gdLst/>
            <a:ahLst/>
            <a:cxnLst/>
            <a:rect l="l" t="t" r="r" b="b"/>
            <a:pathLst>
              <a:path w="1111703" h="1033883">
                <a:moveTo>
                  <a:pt x="1111703" y="0"/>
                </a:moveTo>
                <a:lnTo>
                  <a:pt x="0" y="0"/>
                </a:lnTo>
                <a:lnTo>
                  <a:pt x="0" y="1033883"/>
                </a:lnTo>
                <a:lnTo>
                  <a:pt x="1111703" y="1033883"/>
                </a:lnTo>
                <a:lnTo>
                  <a:pt x="111170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6278984" y="669722"/>
            <a:ext cx="6065416" cy="68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4"/>
              </a:lnSpc>
              <a:spcBef>
                <a:spcPct val="0"/>
              </a:spcBef>
            </a:pPr>
            <a:r>
              <a:rPr lang="en-US" sz="4140" spc="111" dirty="0">
                <a:solidFill>
                  <a:srgbClr val="FFFFFF"/>
                </a:solidFill>
                <a:latin typeface="Balsamiq Sans"/>
                <a:ea typeface="Balsamiq Sans"/>
                <a:cs typeface="Balsamiq Sans"/>
                <a:sym typeface="Balsamiq Sans"/>
              </a:rPr>
              <a:t>How the system is built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21319" y="2993352"/>
            <a:ext cx="842260" cy="445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User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81147" y="5165398"/>
            <a:ext cx="2047702" cy="438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 err="1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Tkinter</a:t>
            </a:r>
            <a:r>
              <a:rPr lang="en-US" sz="2643" b="1" spc="71" dirty="0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 GUI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28330" y="5590477"/>
            <a:ext cx="2386717" cy="785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343" b="1" spc="63" dirty="0" err="1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Expectiminimax</a:t>
            </a:r>
            <a:endParaRPr lang="en-US" sz="2343" b="1" spc="63" dirty="0">
              <a:solidFill>
                <a:srgbClr val="CD373A"/>
              </a:solidFill>
              <a:latin typeface="Balsamiq Sans Bold"/>
              <a:ea typeface="Balsamiq Sans Bold"/>
              <a:cs typeface="Balsamiq Sans Bold"/>
              <a:sym typeface="Balsamiq Sans Bold"/>
            </a:endParaRP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343" b="1" spc="63" dirty="0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 AI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23129" y="8180614"/>
            <a:ext cx="2620871" cy="424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6"/>
              </a:lnSpc>
              <a:spcBef>
                <a:spcPct val="0"/>
              </a:spcBef>
            </a:pPr>
            <a:r>
              <a:rPr lang="en-US" sz="2543" b="1" spc="68" dirty="0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Hand Evaluator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999366" y="6700364"/>
            <a:ext cx="2145134" cy="438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 AI Decision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478155" y="6517867"/>
            <a:ext cx="2355584" cy="887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sz="2643" b="1" spc="71" dirty="0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Updated </a:t>
            </a:r>
          </a:p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CD373A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Game State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0BDE06-7FB3-1362-8176-BD09BD639E91}"/>
              </a:ext>
            </a:extLst>
          </p:cNvPr>
          <p:cNvSpPr txBox="1"/>
          <p:nvPr/>
        </p:nvSpPr>
        <p:spPr>
          <a:xfrm>
            <a:off x="2060751" y="9768809"/>
            <a:ext cx="14621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07 | Section 01   —   Nadira Halim Himla • Sajiah Islam Chowdhury • S. Anam Ridwan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Mohammad Robiul Islam Hasib •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Isnat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Hossain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565311" y="2712278"/>
            <a:ext cx="1998381" cy="1080778"/>
            <a:chOff x="0" y="0"/>
            <a:chExt cx="774925" cy="419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4925" cy="419100"/>
            </a:xfrm>
            <a:custGeom>
              <a:avLst/>
              <a:gdLst/>
              <a:ahLst/>
              <a:cxnLst/>
              <a:rect l="l" t="t" r="r" b="b"/>
              <a:pathLst>
                <a:path w="774925" h="419100">
                  <a:moveTo>
                    <a:pt x="75666" y="0"/>
                  </a:moveTo>
                  <a:lnTo>
                    <a:pt x="699259" y="0"/>
                  </a:lnTo>
                  <a:cubicBezTo>
                    <a:pt x="741048" y="0"/>
                    <a:pt x="774925" y="33877"/>
                    <a:pt x="774925" y="75666"/>
                  </a:cubicBezTo>
                  <a:lnTo>
                    <a:pt x="774925" y="343434"/>
                  </a:lnTo>
                  <a:cubicBezTo>
                    <a:pt x="774925" y="363502"/>
                    <a:pt x="766953" y="382748"/>
                    <a:pt x="752763" y="396938"/>
                  </a:cubicBezTo>
                  <a:cubicBezTo>
                    <a:pt x="738573" y="411128"/>
                    <a:pt x="719327" y="419100"/>
                    <a:pt x="699259" y="419100"/>
                  </a:cubicBezTo>
                  <a:lnTo>
                    <a:pt x="75666" y="419100"/>
                  </a:lnTo>
                  <a:cubicBezTo>
                    <a:pt x="55598" y="419100"/>
                    <a:pt x="36352" y="411128"/>
                    <a:pt x="22162" y="396938"/>
                  </a:cubicBezTo>
                  <a:cubicBezTo>
                    <a:pt x="7972" y="382748"/>
                    <a:pt x="0" y="363502"/>
                    <a:pt x="0" y="343434"/>
                  </a:cubicBezTo>
                  <a:lnTo>
                    <a:pt x="0" y="75666"/>
                  </a:lnTo>
                  <a:cubicBezTo>
                    <a:pt x="0" y="55598"/>
                    <a:pt x="7972" y="36352"/>
                    <a:pt x="22162" y="22162"/>
                  </a:cubicBezTo>
                  <a:cubicBezTo>
                    <a:pt x="36352" y="7972"/>
                    <a:pt x="55598" y="0"/>
                    <a:pt x="75666" y="0"/>
                  </a:cubicBezTo>
                  <a:close/>
                </a:path>
              </a:pathLst>
            </a:custGeom>
            <a:solidFill>
              <a:srgbClr val="C4A3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74925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704937" y="4571997"/>
            <a:ext cx="3119019" cy="1107252"/>
          </a:xfrm>
          <a:custGeom>
            <a:avLst/>
            <a:gdLst/>
            <a:ahLst/>
            <a:cxnLst/>
            <a:rect l="l" t="t" r="r" b="b"/>
            <a:pathLst>
              <a:path w="3119019" h="1107252">
                <a:moveTo>
                  <a:pt x="0" y="0"/>
                </a:moveTo>
                <a:lnTo>
                  <a:pt x="3119019" y="0"/>
                </a:lnTo>
                <a:lnTo>
                  <a:pt x="3119019" y="1107252"/>
                </a:lnTo>
                <a:lnTo>
                  <a:pt x="0" y="110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91278" y="4571997"/>
            <a:ext cx="2985423" cy="1059825"/>
          </a:xfrm>
          <a:custGeom>
            <a:avLst/>
            <a:gdLst/>
            <a:ahLst/>
            <a:cxnLst/>
            <a:rect l="l" t="t" r="r" b="b"/>
            <a:pathLst>
              <a:path w="2985423" h="1059825">
                <a:moveTo>
                  <a:pt x="0" y="0"/>
                </a:moveTo>
                <a:lnTo>
                  <a:pt x="2985423" y="0"/>
                </a:lnTo>
                <a:lnTo>
                  <a:pt x="2985423" y="1059826"/>
                </a:lnTo>
                <a:lnTo>
                  <a:pt x="0" y="10598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486661" y="6437964"/>
            <a:ext cx="2997662" cy="1005644"/>
            <a:chOff x="0" y="0"/>
            <a:chExt cx="1249269" cy="419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9269" cy="419100"/>
            </a:xfrm>
            <a:custGeom>
              <a:avLst/>
              <a:gdLst/>
              <a:ahLst/>
              <a:cxnLst/>
              <a:rect l="l" t="t" r="r" b="b"/>
              <a:pathLst>
                <a:path w="1249269" h="419100">
                  <a:moveTo>
                    <a:pt x="50442" y="0"/>
                  </a:moveTo>
                  <a:lnTo>
                    <a:pt x="1198827" y="0"/>
                  </a:lnTo>
                  <a:cubicBezTo>
                    <a:pt x="1212205" y="0"/>
                    <a:pt x="1225035" y="5314"/>
                    <a:pt x="1234495" y="14774"/>
                  </a:cubicBezTo>
                  <a:cubicBezTo>
                    <a:pt x="1243955" y="24234"/>
                    <a:pt x="1249269" y="37064"/>
                    <a:pt x="1249269" y="50442"/>
                  </a:cubicBezTo>
                  <a:lnTo>
                    <a:pt x="1249269" y="368658"/>
                  </a:lnTo>
                  <a:cubicBezTo>
                    <a:pt x="1249269" y="382036"/>
                    <a:pt x="1243955" y="394866"/>
                    <a:pt x="1234495" y="404326"/>
                  </a:cubicBezTo>
                  <a:cubicBezTo>
                    <a:pt x="1225035" y="413786"/>
                    <a:pt x="1212205" y="419100"/>
                    <a:pt x="1198827" y="419100"/>
                  </a:cubicBezTo>
                  <a:lnTo>
                    <a:pt x="50442" y="419100"/>
                  </a:lnTo>
                  <a:cubicBezTo>
                    <a:pt x="37064" y="419100"/>
                    <a:pt x="24234" y="413786"/>
                    <a:pt x="14774" y="404326"/>
                  </a:cubicBezTo>
                  <a:cubicBezTo>
                    <a:pt x="5314" y="394866"/>
                    <a:pt x="0" y="382036"/>
                    <a:pt x="0" y="368658"/>
                  </a:cubicBezTo>
                  <a:lnTo>
                    <a:pt x="0" y="50442"/>
                  </a:lnTo>
                  <a:cubicBezTo>
                    <a:pt x="0" y="37064"/>
                    <a:pt x="5314" y="24234"/>
                    <a:pt x="14774" y="14774"/>
                  </a:cubicBezTo>
                  <a:cubicBezTo>
                    <a:pt x="24234" y="5314"/>
                    <a:pt x="37064" y="0"/>
                    <a:pt x="50442" y="0"/>
                  </a:cubicBezTo>
                  <a:close/>
                </a:path>
              </a:pathLst>
            </a:custGeom>
            <a:solidFill>
              <a:srgbClr val="CD373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49269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4264446" y="3793056"/>
            <a:ext cx="2300056" cy="77894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6564502" y="3793056"/>
            <a:ext cx="3019488" cy="77894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2152355" y="3178885"/>
            <a:ext cx="5655292" cy="5655292"/>
          </a:xfrm>
          <a:custGeom>
            <a:avLst/>
            <a:gdLst/>
            <a:ahLst/>
            <a:cxnLst/>
            <a:rect l="l" t="t" r="r" b="b"/>
            <a:pathLst>
              <a:path w="5655292" h="5655292">
                <a:moveTo>
                  <a:pt x="0" y="0"/>
                </a:moveTo>
                <a:lnTo>
                  <a:pt x="5655292" y="0"/>
                </a:lnTo>
                <a:lnTo>
                  <a:pt x="5655292" y="5655292"/>
                </a:lnTo>
                <a:lnTo>
                  <a:pt x="0" y="56552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714312" y="4328626"/>
            <a:ext cx="585883" cy="594806"/>
          </a:xfrm>
          <a:custGeom>
            <a:avLst/>
            <a:gdLst/>
            <a:ahLst/>
            <a:cxnLst/>
            <a:rect l="l" t="t" r="r" b="b"/>
            <a:pathLst>
              <a:path w="585883" h="594806">
                <a:moveTo>
                  <a:pt x="0" y="0"/>
                </a:moveTo>
                <a:lnTo>
                  <a:pt x="585884" y="0"/>
                </a:lnTo>
                <a:lnTo>
                  <a:pt x="585884" y="594806"/>
                </a:lnTo>
                <a:lnTo>
                  <a:pt x="0" y="594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688041" y="5313984"/>
            <a:ext cx="585883" cy="594806"/>
          </a:xfrm>
          <a:custGeom>
            <a:avLst/>
            <a:gdLst/>
            <a:ahLst/>
            <a:cxnLst/>
            <a:rect l="l" t="t" r="r" b="b"/>
            <a:pathLst>
              <a:path w="585883" h="594806">
                <a:moveTo>
                  <a:pt x="0" y="0"/>
                </a:moveTo>
                <a:lnTo>
                  <a:pt x="585884" y="0"/>
                </a:lnTo>
                <a:lnTo>
                  <a:pt x="585884" y="594805"/>
                </a:lnTo>
                <a:lnTo>
                  <a:pt x="0" y="594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680894" y="6326930"/>
            <a:ext cx="585883" cy="594806"/>
          </a:xfrm>
          <a:custGeom>
            <a:avLst/>
            <a:gdLst/>
            <a:ahLst/>
            <a:cxnLst/>
            <a:rect l="l" t="t" r="r" b="b"/>
            <a:pathLst>
              <a:path w="585883" h="594806">
                <a:moveTo>
                  <a:pt x="0" y="0"/>
                </a:moveTo>
                <a:lnTo>
                  <a:pt x="585884" y="0"/>
                </a:lnTo>
                <a:lnTo>
                  <a:pt x="585884" y="594806"/>
                </a:lnTo>
                <a:lnTo>
                  <a:pt x="0" y="594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5761647" y="6565642"/>
            <a:ext cx="2997662" cy="1005644"/>
            <a:chOff x="0" y="0"/>
            <a:chExt cx="1249269" cy="419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9269" cy="419100"/>
            </a:xfrm>
            <a:custGeom>
              <a:avLst/>
              <a:gdLst/>
              <a:ahLst/>
              <a:cxnLst/>
              <a:rect l="l" t="t" r="r" b="b"/>
              <a:pathLst>
                <a:path w="1249269" h="419100">
                  <a:moveTo>
                    <a:pt x="50442" y="0"/>
                  </a:moveTo>
                  <a:lnTo>
                    <a:pt x="1198827" y="0"/>
                  </a:lnTo>
                  <a:cubicBezTo>
                    <a:pt x="1212205" y="0"/>
                    <a:pt x="1225035" y="5314"/>
                    <a:pt x="1234495" y="14774"/>
                  </a:cubicBezTo>
                  <a:cubicBezTo>
                    <a:pt x="1243955" y="24234"/>
                    <a:pt x="1249269" y="37064"/>
                    <a:pt x="1249269" y="50442"/>
                  </a:cubicBezTo>
                  <a:lnTo>
                    <a:pt x="1249269" y="368658"/>
                  </a:lnTo>
                  <a:cubicBezTo>
                    <a:pt x="1249269" y="382036"/>
                    <a:pt x="1243955" y="394866"/>
                    <a:pt x="1234495" y="404326"/>
                  </a:cubicBezTo>
                  <a:cubicBezTo>
                    <a:pt x="1225035" y="413786"/>
                    <a:pt x="1212205" y="419100"/>
                    <a:pt x="1198827" y="419100"/>
                  </a:cubicBezTo>
                  <a:lnTo>
                    <a:pt x="50442" y="419100"/>
                  </a:lnTo>
                  <a:cubicBezTo>
                    <a:pt x="37064" y="419100"/>
                    <a:pt x="24234" y="413786"/>
                    <a:pt x="14774" y="404326"/>
                  </a:cubicBezTo>
                  <a:cubicBezTo>
                    <a:pt x="5314" y="394866"/>
                    <a:pt x="0" y="382036"/>
                    <a:pt x="0" y="368658"/>
                  </a:cubicBezTo>
                  <a:lnTo>
                    <a:pt x="0" y="50442"/>
                  </a:lnTo>
                  <a:cubicBezTo>
                    <a:pt x="0" y="37064"/>
                    <a:pt x="5314" y="24234"/>
                    <a:pt x="14774" y="14774"/>
                  </a:cubicBezTo>
                  <a:cubicBezTo>
                    <a:pt x="24234" y="5314"/>
                    <a:pt x="37064" y="0"/>
                    <a:pt x="50442" y="0"/>
                  </a:cubicBezTo>
                  <a:close/>
                </a:path>
              </a:pathLst>
            </a:custGeom>
            <a:solidFill>
              <a:srgbClr val="CD373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49269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82970" y="8118775"/>
            <a:ext cx="2491225" cy="1180499"/>
            <a:chOff x="0" y="0"/>
            <a:chExt cx="512598" cy="2429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598" cy="242901"/>
            </a:xfrm>
            <a:custGeom>
              <a:avLst/>
              <a:gdLst/>
              <a:ahLst/>
              <a:cxnLst/>
              <a:rect l="l" t="t" r="r" b="b"/>
              <a:pathLst>
                <a:path w="512598" h="242901">
                  <a:moveTo>
                    <a:pt x="60697" y="0"/>
                  </a:moveTo>
                  <a:lnTo>
                    <a:pt x="451901" y="0"/>
                  </a:lnTo>
                  <a:cubicBezTo>
                    <a:pt x="485423" y="0"/>
                    <a:pt x="512598" y="27175"/>
                    <a:pt x="512598" y="60697"/>
                  </a:cubicBezTo>
                  <a:lnTo>
                    <a:pt x="512598" y="182204"/>
                  </a:lnTo>
                  <a:cubicBezTo>
                    <a:pt x="512598" y="198302"/>
                    <a:pt x="506203" y="213740"/>
                    <a:pt x="494820" y="225123"/>
                  </a:cubicBezTo>
                  <a:cubicBezTo>
                    <a:pt x="483437" y="236506"/>
                    <a:pt x="467999" y="242901"/>
                    <a:pt x="451901" y="242901"/>
                  </a:cubicBezTo>
                  <a:lnTo>
                    <a:pt x="60697" y="242901"/>
                  </a:lnTo>
                  <a:cubicBezTo>
                    <a:pt x="44599" y="242901"/>
                    <a:pt x="29161" y="236506"/>
                    <a:pt x="17778" y="225123"/>
                  </a:cubicBezTo>
                  <a:cubicBezTo>
                    <a:pt x="6395" y="213740"/>
                    <a:pt x="0" y="198302"/>
                    <a:pt x="0" y="182204"/>
                  </a:cubicBezTo>
                  <a:lnTo>
                    <a:pt x="0" y="60697"/>
                  </a:lnTo>
                  <a:cubicBezTo>
                    <a:pt x="0" y="44599"/>
                    <a:pt x="6395" y="29161"/>
                    <a:pt x="17778" y="17778"/>
                  </a:cubicBezTo>
                  <a:cubicBezTo>
                    <a:pt x="29161" y="6395"/>
                    <a:pt x="44599" y="0"/>
                    <a:pt x="606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12598" cy="281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824418" y="4885332"/>
            <a:ext cx="695655" cy="811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0"/>
              </a:lnSpc>
            </a:pPr>
            <a:r>
              <a:rPr lang="en-US" sz="2553" b="1" spc="68" dirty="0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MIN</a:t>
            </a:r>
          </a:p>
          <a:p>
            <a:pPr algn="ctr">
              <a:lnSpc>
                <a:spcPts val="2974"/>
              </a:lnSpc>
              <a:spcBef>
                <a:spcPct val="0"/>
              </a:spcBef>
            </a:pPr>
            <a:r>
              <a:rPr lang="en-US" sz="2253" b="1" spc="60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68681" y="4894857"/>
            <a:ext cx="1643937" cy="851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801" b="1" spc="75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fold = -π</a:t>
            </a:r>
          </a:p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301" b="1" spc="62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73689" y="981075"/>
            <a:ext cx="7726506" cy="68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4"/>
              </a:lnSpc>
              <a:spcBef>
                <a:spcPct val="0"/>
              </a:spcBef>
            </a:pPr>
            <a:r>
              <a:rPr lang="en-US" sz="4140" b="1" spc="111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How the AI Makes Decisions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90283" y="1760762"/>
            <a:ext cx="4707434" cy="34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spcBef>
                <a:spcPct val="0"/>
              </a:spcBef>
            </a:pPr>
            <a:r>
              <a:rPr lang="en-US" sz="2143" b="1" i="1" spc="57" dirty="0">
                <a:solidFill>
                  <a:srgbClr val="FFFFFF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Using the </a:t>
            </a:r>
            <a:r>
              <a:rPr lang="en-US" sz="2143" b="1" i="1" spc="57" dirty="0" err="1">
                <a:solidFill>
                  <a:srgbClr val="FFFFFF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Expectiminimax</a:t>
            </a:r>
            <a:r>
              <a:rPr lang="en-US" sz="2143" b="1" i="1" spc="57" dirty="0">
                <a:solidFill>
                  <a:srgbClr val="FFFFFF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 Algorithm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169030" y="3034682"/>
            <a:ext cx="720775" cy="43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MAX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58095" y="6703751"/>
            <a:ext cx="1454795" cy="43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CHANCE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38960" y="3413501"/>
            <a:ext cx="2115439" cy="438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i="1" spc="71" dirty="0">
                <a:solidFill>
                  <a:srgbClr val="000000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Node Types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08051" y="4428809"/>
            <a:ext cx="3810616" cy="36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  <a:spcBef>
                <a:spcPct val="0"/>
              </a:spcBef>
            </a:pPr>
            <a:r>
              <a:rPr lang="en-US" sz="2243" b="1" spc="60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MAX - AI's turn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578041" y="6388776"/>
            <a:ext cx="3639583" cy="737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  <a:spcBef>
                <a:spcPct val="0"/>
              </a:spcBef>
            </a:pPr>
            <a:r>
              <a:rPr lang="en-US" sz="2243" b="1" spc="60" dirty="0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CHANCE - Random card dealt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30283" y="5428454"/>
            <a:ext cx="3821004" cy="36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  <a:spcBef>
                <a:spcPct val="0"/>
              </a:spcBef>
            </a:pPr>
            <a:r>
              <a:rPr lang="en-US" sz="2243" b="1" spc="60" dirty="0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MIN -  Opponent's turn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80697" y="6831429"/>
            <a:ext cx="2997662" cy="43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CHANCE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238526" y="8118775"/>
            <a:ext cx="2491225" cy="1180499"/>
            <a:chOff x="0" y="0"/>
            <a:chExt cx="512598" cy="24290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12598" cy="242901"/>
            </a:xfrm>
            <a:custGeom>
              <a:avLst/>
              <a:gdLst/>
              <a:ahLst/>
              <a:cxnLst/>
              <a:rect l="l" t="t" r="r" b="b"/>
              <a:pathLst>
                <a:path w="512598" h="242901">
                  <a:moveTo>
                    <a:pt x="60697" y="0"/>
                  </a:moveTo>
                  <a:lnTo>
                    <a:pt x="451901" y="0"/>
                  </a:lnTo>
                  <a:cubicBezTo>
                    <a:pt x="485423" y="0"/>
                    <a:pt x="512598" y="27175"/>
                    <a:pt x="512598" y="60697"/>
                  </a:cubicBezTo>
                  <a:lnTo>
                    <a:pt x="512598" y="182204"/>
                  </a:lnTo>
                  <a:cubicBezTo>
                    <a:pt x="512598" y="198302"/>
                    <a:pt x="506203" y="213740"/>
                    <a:pt x="494820" y="225123"/>
                  </a:cubicBezTo>
                  <a:cubicBezTo>
                    <a:pt x="483437" y="236506"/>
                    <a:pt x="467999" y="242901"/>
                    <a:pt x="451901" y="242901"/>
                  </a:cubicBezTo>
                  <a:lnTo>
                    <a:pt x="60697" y="242901"/>
                  </a:lnTo>
                  <a:cubicBezTo>
                    <a:pt x="44599" y="242901"/>
                    <a:pt x="29161" y="236506"/>
                    <a:pt x="17778" y="225123"/>
                  </a:cubicBezTo>
                  <a:cubicBezTo>
                    <a:pt x="6395" y="213740"/>
                    <a:pt x="0" y="198302"/>
                    <a:pt x="0" y="182204"/>
                  </a:cubicBezTo>
                  <a:lnTo>
                    <a:pt x="0" y="60697"/>
                  </a:lnTo>
                  <a:cubicBezTo>
                    <a:pt x="0" y="44599"/>
                    <a:pt x="6395" y="29161"/>
                    <a:pt x="17778" y="17778"/>
                  </a:cubicBezTo>
                  <a:cubicBezTo>
                    <a:pt x="29161" y="6395"/>
                    <a:pt x="44599" y="0"/>
                    <a:pt x="606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12598" cy="281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529418" y="8215197"/>
            <a:ext cx="2491225" cy="1180499"/>
            <a:chOff x="0" y="0"/>
            <a:chExt cx="512598" cy="24290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2598" cy="242901"/>
            </a:xfrm>
            <a:custGeom>
              <a:avLst/>
              <a:gdLst/>
              <a:ahLst/>
              <a:cxnLst/>
              <a:rect l="l" t="t" r="r" b="b"/>
              <a:pathLst>
                <a:path w="512598" h="242901">
                  <a:moveTo>
                    <a:pt x="60697" y="0"/>
                  </a:moveTo>
                  <a:lnTo>
                    <a:pt x="451901" y="0"/>
                  </a:lnTo>
                  <a:cubicBezTo>
                    <a:pt x="485423" y="0"/>
                    <a:pt x="512598" y="27175"/>
                    <a:pt x="512598" y="60697"/>
                  </a:cubicBezTo>
                  <a:lnTo>
                    <a:pt x="512598" y="182204"/>
                  </a:lnTo>
                  <a:cubicBezTo>
                    <a:pt x="512598" y="198302"/>
                    <a:pt x="506203" y="213740"/>
                    <a:pt x="494820" y="225123"/>
                  </a:cubicBezTo>
                  <a:cubicBezTo>
                    <a:pt x="483437" y="236506"/>
                    <a:pt x="467999" y="242901"/>
                    <a:pt x="451901" y="242901"/>
                  </a:cubicBezTo>
                  <a:lnTo>
                    <a:pt x="60697" y="242901"/>
                  </a:lnTo>
                  <a:cubicBezTo>
                    <a:pt x="44599" y="242901"/>
                    <a:pt x="29161" y="236506"/>
                    <a:pt x="17778" y="225123"/>
                  </a:cubicBezTo>
                  <a:cubicBezTo>
                    <a:pt x="6395" y="213740"/>
                    <a:pt x="0" y="198302"/>
                    <a:pt x="0" y="182204"/>
                  </a:cubicBezTo>
                  <a:lnTo>
                    <a:pt x="0" y="60697"/>
                  </a:lnTo>
                  <a:cubicBezTo>
                    <a:pt x="0" y="44599"/>
                    <a:pt x="6395" y="29161"/>
                    <a:pt x="17778" y="17778"/>
                  </a:cubicBezTo>
                  <a:cubicBezTo>
                    <a:pt x="29161" y="6395"/>
                    <a:pt x="44599" y="0"/>
                    <a:pt x="606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12598" cy="281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99205" y="8215197"/>
            <a:ext cx="2491225" cy="1180499"/>
            <a:chOff x="0" y="0"/>
            <a:chExt cx="512598" cy="24290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2598" cy="242901"/>
            </a:xfrm>
            <a:custGeom>
              <a:avLst/>
              <a:gdLst/>
              <a:ahLst/>
              <a:cxnLst/>
              <a:rect l="l" t="t" r="r" b="b"/>
              <a:pathLst>
                <a:path w="512598" h="242901">
                  <a:moveTo>
                    <a:pt x="60697" y="0"/>
                  </a:moveTo>
                  <a:lnTo>
                    <a:pt x="451901" y="0"/>
                  </a:lnTo>
                  <a:cubicBezTo>
                    <a:pt x="485423" y="0"/>
                    <a:pt x="512598" y="27175"/>
                    <a:pt x="512598" y="60697"/>
                  </a:cubicBezTo>
                  <a:lnTo>
                    <a:pt x="512598" y="182204"/>
                  </a:lnTo>
                  <a:cubicBezTo>
                    <a:pt x="512598" y="198302"/>
                    <a:pt x="506203" y="213740"/>
                    <a:pt x="494820" y="225123"/>
                  </a:cubicBezTo>
                  <a:cubicBezTo>
                    <a:pt x="483437" y="236506"/>
                    <a:pt x="467999" y="242901"/>
                    <a:pt x="451901" y="242901"/>
                  </a:cubicBezTo>
                  <a:lnTo>
                    <a:pt x="60697" y="242901"/>
                  </a:lnTo>
                  <a:cubicBezTo>
                    <a:pt x="44599" y="242901"/>
                    <a:pt x="29161" y="236506"/>
                    <a:pt x="17778" y="225123"/>
                  </a:cubicBezTo>
                  <a:cubicBezTo>
                    <a:pt x="6395" y="213740"/>
                    <a:pt x="0" y="198302"/>
                    <a:pt x="0" y="182204"/>
                  </a:cubicBezTo>
                  <a:lnTo>
                    <a:pt x="0" y="60697"/>
                  </a:lnTo>
                  <a:cubicBezTo>
                    <a:pt x="0" y="44599"/>
                    <a:pt x="6395" y="29161"/>
                    <a:pt x="17778" y="17778"/>
                  </a:cubicBezTo>
                  <a:cubicBezTo>
                    <a:pt x="29161" y="6395"/>
                    <a:pt x="44599" y="0"/>
                    <a:pt x="606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512598" cy="281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43" name="AutoShape 43"/>
          <p:cNvSpPr/>
          <p:nvPr/>
        </p:nvSpPr>
        <p:spPr>
          <a:xfrm flipH="1">
            <a:off x="2960565" y="5679249"/>
            <a:ext cx="1303881" cy="69285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>
            <a:off x="4154371" y="5677376"/>
            <a:ext cx="3106107" cy="88826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 flipH="1">
            <a:off x="1363376" y="7443608"/>
            <a:ext cx="1622116" cy="64854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46"/>
          <p:cNvSpPr/>
          <p:nvPr/>
        </p:nvSpPr>
        <p:spPr>
          <a:xfrm>
            <a:off x="2985492" y="7443608"/>
            <a:ext cx="1326540" cy="64854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AutoShape 47"/>
          <p:cNvSpPr/>
          <p:nvPr/>
        </p:nvSpPr>
        <p:spPr>
          <a:xfrm>
            <a:off x="7260478" y="7571286"/>
            <a:ext cx="514553" cy="64391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AutoShape 48"/>
          <p:cNvSpPr/>
          <p:nvPr/>
        </p:nvSpPr>
        <p:spPr>
          <a:xfrm>
            <a:off x="7260478" y="7571286"/>
            <a:ext cx="3484340" cy="64391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TextBox 49"/>
          <p:cNvSpPr txBox="1"/>
          <p:nvPr/>
        </p:nvSpPr>
        <p:spPr>
          <a:xfrm>
            <a:off x="1058855" y="8471989"/>
            <a:ext cx="1095946" cy="435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LEAF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317011" y="8568410"/>
            <a:ext cx="957075" cy="438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LEAF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183794" y="8568411"/>
            <a:ext cx="3186857" cy="43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LEAF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635154" y="8471989"/>
            <a:ext cx="3186857" cy="43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LEAF</a:t>
            </a:r>
          </a:p>
        </p:txBody>
      </p:sp>
      <p:sp>
        <p:nvSpPr>
          <p:cNvPr id="53" name="Freeform 53"/>
          <p:cNvSpPr/>
          <p:nvPr/>
        </p:nvSpPr>
        <p:spPr>
          <a:xfrm>
            <a:off x="12695197" y="7449083"/>
            <a:ext cx="585883" cy="594806"/>
          </a:xfrm>
          <a:custGeom>
            <a:avLst/>
            <a:gdLst/>
            <a:ahLst/>
            <a:cxnLst/>
            <a:rect l="l" t="t" r="r" b="b"/>
            <a:pathLst>
              <a:path w="585883" h="594806">
                <a:moveTo>
                  <a:pt x="0" y="0"/>
                </a:moveTo>
                <a:lnTo>
                  <a:pt x="585884" y="0"/>
                </a:lnTo>
                <a:lnTo>
                  <a:pt x="585884" y="594806"/>
                </a:lnTo>
                <a:lnTo>
                  <a:pt x="0" y="594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13578041" y="7527375"/>
            <a:ext cx="3810616" cy="36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  <a:spcBef>
                <a:spcPct val="0"/>
              </a:spcBef>
            </a:pPr>
            <a:r>
              <a:rPr lang="en-US" sz="2243" b="1" spc="60" dirty="0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LEAF — Final Score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973836" y="9110070"/>
            <a:ext cx="4012330" cy="552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  <a:spcBef>
                <a:spcPct val="0"/>
              </a:spcBef>
            </a:pPr>
            <a:r>
              <a:rPr lang="en-US" sz="1685" b="1" i="1" spc="45">
                <a:solidFill>
                  <a:srgbClr val="FFFFFF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P(oᵢ) = 1/k at each CHANCE branch</a:t>
            </a:r>
          </a:p>
          <a:p>
            <a:pPr algn="l">
              <a:lnSpc>
                <a:spcPts val="2224"/>
              </a:lnSpc>
              <a:spcBef>
                <a:spcPct val="0"/>
              </a:spcBef>
            </a:pPr>
            <a:endParaRPr lang="en-US" sz="1685" b="1" i="1" spc="45">
              <a:solidFill>
                <a:srgbClr val="FFFFFF"/>
              </a:solidFill>
              <a:latin typeface="Balsamiq Sans Bold Italics"/>
              <a:ea typeface="Balsamiq Sans Bold Italics"/>
              <a:cs typeface="Balsamiq Sans Bold Italics"/>
              <a:sym typeface="Balsamiq Sans Bold Itali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1F8C4F-9820-92C8-A919-72FB76D50656}"/>
              </a:ext>
            </a:extLst>
          </p:cNvPr>
          <p:cNvSpPr txBox="1"/>
          <p:nvPr/>
        </p:nvSpPr>
        <p:spPr>
          <a:xfrm>
            <a:off x="2410429" y="9887788"/>
            <a:ext cx="12985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07 | Section 01   —   Nadira Halim Himla • Sajiah Islam Chowdhury • S. Anam Ridwan </a:t>
            </a:r>
            <a:r>
              <a:rPr lang="en-US" sz="1600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</a:t>
            </a: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Mohammad Robiul Islam Hasib • </a:t>
            </a:r>
            <a:r>
              <a:rPr lang="en-US" sz="1600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Isnat</a:t>
            </a: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Hossain </a:t>
            </a:r>
            <a:r>
              <a:rPr lang="en-US" sz="1600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Rijon</a:t>
            </a:r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49" grpId="0"/>
      <p:bldP spid="50" grpId="0"/>
      <p:bldP spid="51" grpId="0"/>
      <p:bldP spid="52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86682" y="3075467"/>
            <a:ext cx="6859884" cy="4126871"/>
            <a:chOff x="0" y="0"/>
            <a:chExt cx="1411499" cy="8491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11499" cy="849150"/>
            </a:xfrm>
            <a:custGeom>
              <a:avLst/>
              <a:gdLst/>
              <a:ahLst/>
              <a:cxnLst/>
              <a:rect l="l" t="t" r="r" b="b"/>
              <a:pathLst>
                <a:path w="1411499" h="849150">
                  <a:moveTo>
                    <a:pt x="22043" y="0"/>
                  </a:moveTo>
                  <a:lnTo>
                    <a:pt x="1389456" y="0"/>
                  </a:lnTo>
                  <a:cubicBezTo>
                    <a:pt x="1395302" y="0"/>
                    <a:pt x="1400909" y="2322"/>
                    <a:pt x="1405043" y="6456"/>
                  </a:cubicBezTo>
                  <a:cubicBezTo>
                    <a:pt x="1409176" y="10590"/>
                    <a:pt x="1411499" y="16197"/>
                    <a:pt x="1411499" y="22043"/>
                  </a:cubicBezTo>
                  <a:lnTo>
                    <a:pt x="1411499" y="827108"/>
                  </a:lnTo>
                  <a:cubicBezTo>
                    <a:pt x="1411499" y="839282"/>
                    <a:pt x="1401630" y="849150"/>
                    <a:pt x="1389456" y="849150"/>
                  </a:cubicBezTo>
                  <a:lnTo>
                    <a:pt x="22043" y="849150"/>
                  </a:lnTo>
                  <a:cubicBezTo>
                    <a:pt x="16197" y="849150"/>
                    <a:pt x="10590" y="846828"/>
                    <a:pt x="6456" y="842694"/>
                  </a:cubicBezTo>
                  <a:cubicBezTo>
                    <a:pt x="2322" y="838561"/>
                    <a:pt x="0" y="832954"/>
                    <a:pt x="0" y="827108"/>
                  </a:cubicBezTo>
                  <a:lnTo>
                    <a:pt x="0" y="22043"/>
                  </a:lnTo>
                  <a:cubicBezTo>
                    <a:pt x="0" y="16197"/>
                    <a:pt x="2322" y="10590"/>
                    <a:pt x="6456" y="6456"/>
                  </a:cubicBezTo>
                  <a:cubicBezTo>
                    <a:pt x="10590" y="2322"/>
                    <a:pt x="16197" y="0"/>
                    <a:pt x="22043" y="0"/>
                  </a:cubicBez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11499" cy="887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41434" y="4150347"/>
            <a:ext cx="6859884" cy="4546180"/>
            <a:chOff x="0" y="0"/>
            <a:chExt cx="1411499" cy="9354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1499" cy="935428"/>
            </a:xfrm>
            <a:custGeom>
              <a:avLst/>
              <a:gdLst/>
              <a:ahLst/>
              <a:cxnLst/>
              <a:rect l="l" t="t" r="r" b="b"/>
              <a:pathLst>
                <a:path w="1411499" h="935428">
                  <a:moveTo>
                    <a:pt x="22043" y="0"/>
                  </a:moveTo>
                  <a:lnTo>
                    <a:pt x="1389456" y="0"/>
                  </a:lnTo>
                  <a:cubicBezTo>
                    <a:pt x="1395302" y="0"/>
                    <a:pt x="1400909" y="2322"/>
                    <a:pt x="1405043" y="6456"/>
                  </a:cubicBezTo>
                  <a:cubicBezTo>
                    <a:pt x="1409176" y="10590"/>
                    <a:pt x="1411499" y="16197"/>
                    <a:pt x="1411499" y="22043"/>
                  </a:cubicBezTo>
                  <a:lnTo>
                    <a:pt x="1411499" y="913385"/>
                  </a:lnTo>
                  <a:cubicBezTo>
                    <a:pt x="1411499" y="919231"/>
                    <a:pt x="1409176" y="924838"/>
                    <a:pt x="1405043" y="928972"/>
                  </a:cubicBezTo>
                  <a:cubicBezTo>
                    <a:pt x="1400909" y="933106"/>
                    <a:pt x="1395302" y="935428"/>
                    <a:pt x="1389456" y="935428"/>
                  </a:cubicBezTo>
                  <a:lnTo>
                    <a:pt x="22043" y="935428"/>
                  </a:lnTo>
                  <a:cubicBezTo>
                    <a:pt x="16197" y="935428"/>
                    <a:pt x="10590" y="933106"/>
                    <a:pt x="6456" y="928972"/>
                  </a:cubicBezTo>
                  <a:cubicBezTo>
                    <a:pt x="2322" y="924838"/>
                    <a:pt x="0" y="919231"/>
                    <a:pt x="0" y="913385"/>
                  </a:cubicBezTo>
                  <a:lnTo>
                    <a:pt x="0" y="22043"/>
                  </a:lnTo>
                  <a:cubicBezTo>
                    <a:pt x="0" y="16197"/>
                    <a:pt x="2322" y="10590"/>
                    <a:pt x="6456" y="6456"/>
                  </a:cubicBezTo>
                  <a:cubicBezTo>
                    <a:pt x="10590" y="2322"/>
                    <a:pt x="16197" y="0"/>
                    <a:pt x="22043" y="0"/>
                  </a:cubicBez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11499" cy="973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313797">
            <a:off x="210477" y="8399498"/>
            <a:ext cx="2143682" cy="1543451"/>
          </a:xfrm>
          <a:custGeom>
            <a:avLst/>
            <a:gdLst/>
            <a:ahLst/>
            <a:cxnLst/>
            <a:rect l="l" t="t" r="r" b="b"/>
            <a:pathLst>
              <a:path w="2143682" h="1543451">
                <a:moveTo>
                  <a:pt x="0" y="0"/>
                </a:moveTo>
                <a:lnTo>
                  <a:pt x="2143682" y="0"/>
                </a:lnTo>
                <a:lnTo>
                  <a:pt x="2143682" y="1543451"/>
                </a:lnTo>
                <a:lnTo>
                  <a:pt x="0" y="1543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86583" y="1151581"/>
            <a:ext cx="1122165" cy="858456"/>
          </a:xfrm>
          <a:custGeom>
            <a:avLst/>
            <a:gdLst/>
            <a:ahLst/>
            <a:cxnLst/>
            <a:rect l="l" t="t" r="r" b="b"/>
            <a:pathLst>
              <a:path w="1122165" h="858456">
                <a:moveTo>
                  <a:pt x="0" y="0"/>
                </a:moveTo>
                <a:lnTo>
                  <a:pt x="1122165" y="0"/>
                </a:lnTo>
                <a:lnTo>
                  <a:pt x="1122165" y="858456"/>
                </a:lnTo>
                <a:lnTo>
                  <a:pt x="0" y="858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738163" y="1005007"/>
            <a:ext cx="11521574" cy="135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8"/>
              </a:lnSpc>
            </a:pPr>
            <a:r>
              <a:rPr lang="en-US" sz="4143" spc="111" dirty="0">
                <a:solidFill>
                  <a:srgbClr val="FFFFFF"/>
                </a:solidFill>
                <a:latin typeface="Balsamiq Sans"/>
                <a:ea typeface="Balsamiq Sans"/>
                <a:cs typeface="Balsamiq Sans"/>
                <a:sym typeface="Balsamiq Sans"/>
              </a:rPr>
              <a:t> What We Built On Top of the Core Engine</a:t>
            </a:r>
          </a:p>
          <a:p>
            <a:pPr algn="ctr">
              <a:lnSpc>
                <a:spcPts val="5468"/>
              </a:lnSpc>
              <a:spcBef>
                <a:spcPct val="0"/>
              </a:spcBef>
            </a:pPr>
            <a:endParaRPr lang="en-US" sz="4143" spc="111" dirty="0">
              <a:solidFill>
                <a:srgbClr val="FFFFFF"/>
              </a:solidFill>
              <a:latin typeface="Balsamiq Sans"/>
              <a:ea typeface="Balsamiq Sans"/>
              <a:cs typeface="Balsamiq Sans"/>
              <a:sym typeface="Balsamiq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738163" y="3528809"/>
            <a:ext cx="2205437" cy="436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AI 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33836" y="4510117"/>
            <a:ext cx="4675080" cy="43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Application Features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69852" y="4569364"/>
            <a:ext cx="5493544" cy="175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637" lvl="1" indent="-285318" algn="l">
              <a:lnSpc>
                <a:spcPts val="3488"/>
              </a:lnSpc>
              <a:spcBef>
                <a:spcPct val="0"/>
              </a:spcBef>
              <a:buFont typeface="Arial"/>
              <a:buChar char="•"/>
            </a:pPr>
            <a:r>
              <a:rPr lang="en-US" sz="2643" b="1" spc="71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Adaptive Opponent Modeling</a:t>
            </a:r>
          </a:p>
          <a:p>
            <a:pPr marL="570637" lvl="1" indent="-285318" algn="l">
              <a:lnSpc>
                <a:spcPts val="3488"/>
              </a:lnSpc>
              <a:spcBef>
                <a:spcPct val="0"/>
              </a:spcBef>
              <a:buFont typeface="Arial"/>
              <a:buChar char="•"/>
            </a:pPr>
            <a:r>
              <a:rPr lang="en-US" sz="2643" b="1" spc="71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Live Decision Log</a:t>
            </a:r>
          </a:p>
          <a:p>
            <a:pPr marL="570637" lvl="1" indent="-285318" algn="l">
              <a:lnSpc>
                <a:spcPts val="3488"/>
              </a:lnSpc>
              <a:spcBef>
                <a:spcPct val="0"/>
              </a:spcBef>
              <a:buFont typeface="Arial"/>
              <a:buChar char="•"/>
            </a:pPr>
            <a:r>
              <a:rPr lang="en-US" sz="2643" b="1" spc="71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Monte Carlo Chance Sampling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endParaRPr lang="en-US" sz="2643" b="1" spc="71" dirty="0">
              <a:solidFill>
                <a:srgbClr val="FFFFFF"/>
              </a:solidFill>
              <a:latin typeface="Balsamiq Sans Bold"/>
              <a:ea typeface="Balsamiq Sans Bold"/>
              <a:cs typeface="Balsamiq Sans Bold"/>
              <a:sym typeface="Balsamiq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302162" y="5628874"/>
            <a:ext cx="6084422" cy="1985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204" lvl="1" indent="-259602" algn="l">
              <a:lnSpc>
                <a:spcPts val="3174"/>
              </a:lnSpc>
              <a:buFont typeface="Arial"/>
              <a:buChar char="•"/>
            </a:pPr>
            <a:r>
              <a:rPr lang="en-US" sz="2404" b="1" spc="64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Difficulty Levels (Easy/Hard/Medium)</a:t>
            </a:r>
          </a:p>
          <a:p>
            <a:pPr marL="519204" lvl="1" indent="-259602" algn="l">
              <a:lnSpc>
                <a:spcPts val="3174"/>
              </a:lnSpc>
              <a:spcBef>
                <a:spcPct val="0"/>
              </a:spcBef>
              <a:buFont typeface="Arial"/>
              <a:buChar char="•"/>
            </a:pPr>
            <a:r>
              <a:rPr lang="en-US" sz="2404" b="1" spc="64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Hand History Export</a:t>
            </a:r>
          </a:p>
          <a:p>
            <a:pPr marL="519204" lvl="1" indent="-259602" algn="l">
              <a:lnSpc>
                <a:spcPts val="3174"/>
              </a:lnSpc>
              <a:spcBef>
                <a:spcPct val="0"/>
              </a:spcBef>
              <a:buFont typeface="Arial"/>
              <a:buChar char="•"/>
            </a:pPr>
            <a:r>
              <a:rPr lang="en-US" sz="2404" b="1" spc="64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Win-Rate &amp; Statistics</a:t>
            </a:r>
          </a:p>
          <a:p>
            <a:pPr marL="519204" lvl="1" indent="-259602" algn="l">
              <a:lnSpc>
                <a:spcPts val="3174"/>
              </a:lnSpc>
              <a:spcBef>
                <a:spcPct val="0"/>
              </a:spcBef>
              <a:buFont typeface="Arial"/>
              <a:buChar char="•"/>
            </a:pPr>
            <a:r>
              <a:rPr lang="en-US" sz="2404" b="1" spc="64" dirty="0" err="1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Tkinter</a:t>
            </a:r>
            <a:r>
              <a:rPr lang="en-US" sz="2404" b="1" spc="64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 GUI</a:t>
            </a:r>
          </a:p>
          <a:p>
            <a:pPr algn="ctr">
              <a:lnSpc>
                <a:spcPts val="3174"/>
              </a:lnSpc>
              <a:spcBef>
                <a:spcPct val="0"/>
              </a:spcBef>
            </a:pPr>
            <a:endParaRPr lang="en-US" sz="2404" b="1" spc="64" dirty="0">
              <a:solidFill>
                <a:srgbClr val="FFFFFF"/>
              </a:solidFill>
              <a:latin typeface="Balsamiq Sans Bold"/>
              <a:ea typeface="Balsamiq Sans Bold"/>
              <a:cs typeface="Balsamiq Sans Bold"/>
              <a:sym typeface="Balsamiq Sans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882A6-A156-F169-A9F5-BF215AE1FF15}"/>
              </a:ext>
            </a:extLst>
          </p:cNvPr>
          <p:cNvSpPr txBox="1"/>
          <p:nvPr/>
        </p:nvSpPr>
        <p:spPr>
          <a:xfrm>
            <a:off x="2583687" y="9825336"/>
            <a:ext cx="14621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07 | Section 01   —   Nadira Halim Himla • Sajiah Islam Chowdhury • S. Anam Ridwan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Mohammad Robiul Islam Hasib •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Isnat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Hossain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58" y="1858302"/>
            <a:ext cx="7868948" cy="776244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0457460" y="4094372"/>
            <a:ext cx="5450373" cy="4027467"/>
            <a:chOff x="0" y="0"/>
            <a:chExt cx="1121476" cy="8286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1476" cy="828697"/>
            </a:xfrm>
            <a:custGeom>
              <a:avLst/>
              <a:gdLst/>
              <a:ahLst/>
              <a:cxnLst/>
              <a:rect l="l" t="t" r="r" b="b"/>
              <a:pathLst>
                <a:path w="1121476" h="828697">
                  <a:moveTo>
                    <a:pt x="27743" y="0"/>
                  </a:moveTo>
                  <a:lnTo>
                    <a:pt x="1093733" y="0"/>
                  </a:lnTo>
                  <a:cubicBezTo>
                    <a:pt x="1101091" y="0"/>
                    <a:pt x="1108147" y="2923"/>
                    <a:pt x="1113350" y="8126"/>
                  </a:cubicBezTo>
                  <a:cubicBezTo>
                    <a:pt x="1118553" y="13329"/>
                    <a:pt x="1121476" y="20385"/>
                    <a:pt x="1121476" y="27743"/>
                  </a:cubicBezTo>
                  <a:lnTo>
                    <a:pt x="1121476" y="800954"/>
                  </a:lnTo>
                  <a:cubicBezTo>
                    <a:pt x="1121476" y="816276"/>
                    <a:pt x="1109055" y="828697"/>
                    <a:pt x="1093733" y="828697"/>
                  </a:cubicBezTo>
                  <a:lnTo>
                    <a:pt x="27743" y="828697"/>
                  </a:lnTo>
                  <a:cubicBezTo>
                    <a:pt x="20385" y="828697"/>
                    <a:pt x="13329" y="825774"/>
                    <a:pt x="8126" y="820571"/>
                  </a:cubicBezTo>
                  <a:cubicBezTo>
                    <a:pt x="2923" y="815368"/>
                    <a:pt x="0" y="808312"/>
                    <a:pt x="0" y="800954"/>
                  </a:cubicBezTo>
                  <a:lnTo>
                    <a:pt x="0" y="27743"/>
                  </a:lnTo>
                  <a:cubicBezTo>
                    <a:pt x="0" y="20385"/>
                    <a:pt x="2923" y="13329"/>
                    <a:pt x="8126" y="8126"/>
                  </a:cubicBezTo>
                  <a:cubicBezTo>
                    <a:pt x="13329" y="2923"/>
                    <a:pt x="20385" y="0"/>
                    <a:pt x="27743" y="0"/>
                  </a:cubicBezTo>
                  <a:close/>
                </a:path>
              </a:pathLst>
            </a:custGeom>
            <a:solidFill>
              <a:srgbClr val="2E641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21476" cy="866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440739" y="945075"/>
            <a:ext cx="818561" cy="789911"/>
          </a:xfrm>
          <a:custGeom>
            <a:avLst/>
            <a:gdLst/>
            <a:ahLst/>
            <a:cxnLst/>
            <a:rect l="l" t="t" r="r" b="b"/>
            <a:pathLst>
              <a:path w="818561" h="789911">
                <a:moveTo>
                  <a:pt x="0" y="0"/>
                </a:moveTo>
                <a:lnTo>
                  <a:pt x="818561" y="0"/>
                </a:lnTo>
                <a:lnTo>
                  <a:pt x="818561" y="789911"/>
                </a:lnTo>
                <a:lnTo>
                  <a:pt x="0" y="7899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71580" y="669745"/>
            <a:ext cx="5750393" cy="688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8"/>
              </a:lnSpc>
              <a:spcBef>
                <a:spcPct val="0"/>
              </a:spcBef>
            </a:pPr>
            <a:r>
              <a:rPr lang="en-US" sz="4143" b="1" spc="111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Putting It to the Test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9904" y="1922872"/>
            <a:ext cx="5968696" cy="351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spcBef>
                <a:spcPct val="0"/>
              </a:spcBef>
            </a:pPr>
            <a:r>
              <a:rPr lang="en-US" sz="2143" b="1" spc="57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200 hands per matchup, seats alternated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21973" y="4906465"/>
            <a:ext cx="1721346" cy="435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The Result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41048" y="6026855"/>
            <a:ext cx="5542518" cy="131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637" lvl="1" indent="-285318" algn="l">
              <a:lnSpc>
                <a:spcPts val="3488"/>
              </a:lnSpc>
              <a:buFont typeface="Arial"/>
              <a:buChar char="•"/>
            </a:pPr>
            <a:r>
              <a:rPr lang="en-US" sz="2643" b="1" spc="71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99.5% vs Random</a:t>
            </a:r>
          </a:p>
          <a:p>
            <a:pPr marL="570637" lvl="1" indent="-285318" algn="l">
              <a:lnSpc>
                <a:spcPts val="3488"/>
              </a:lnSpc>
              <a:buFont typeface="Arial"/>
              <a:buChar char="•"/>
            </a:pPr>
            <a:r>
              <a:rPr lang="en-US" sz="2643" b="1" spc="71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50.5% vs Rule-based</a:t>
            </a:r>
          </a:p>
          <a:p>
            <a:pPr marL="570637" lvl="1" indent="-285318" algn="l">
              <a:lnSpc>
                <a:spcPts val="3488"/>
              </a:lnSpc>
              <a:buFont typeface="Arial"/>
              <a:buChar char="•"/>
            </a:pPr>
            <a:r>
              <a:rPr lang="en-US" sz="2643" b="1" spc="71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54.0% vs Always-call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0C6CFE-F32C-17A1-E2A6-562D8F2FE8F6}"/>
              </a:ext>
            </a:extLst>
          </p:cNvPr>
          <p:cNvSpPr txBox="1"/>
          <p:nvPr/>
        </p:nvSpPr>
        <p:spPr>
          <a:xfrm>
            <a:off x="2228709" y="9805910"/>
            <a:ext cx="14621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07 | Section 01   —   Nadira Halim Himla • Sajiah Islam Chowdhury • S. Anam Ridwan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Mohammad Robiul Islam Hasib •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Isnat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Hossain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71" y="1891873"/>
            <a:ext cx="10029911" cy="7609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0583742" y="3203632"/>
            <a:ext cx="6246341" cy="4985482"/>
            <a:chOff x="0" y="0"/>
            <a:chExt cx="1285255" cy="10258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5255" cy="1025819"/>
            </a:xfrm>
            <a:custGeom>
              <a:avLst/>
              <a:gdLst/>
              <a:ahLst/>
              <a:cxnLst/>
              <a:rect l="l" t="t" r="r" b="b"/>
              <a:pathLst>
                <a:path w="1285255" h="1025819">
                  <a:moveTo>
                    <a:pt x="24208" y="0"/>
                  </a:moveTo>
                  <a:lnTo>
                    <a:pt x="1261048" y="0"/>
                  </a:lnTo>
                  <a:cubicBezTo>
                    <a:pt x="1274417" y="0"/>
                    <a:pt x="1285255" y="10838"/>
                    <a:pt x="1285255" y="24208"/>
                  </a:cubicBezTo>
                  <a:lnTo>
                    <a:pt x="1285255" y="1001612"/>
                  </a:lnTo>
                  <a:cubicBezTo>
                    <a:pt x="1285255" y="1008032"/>
                    <a:pt x="1282705" y="1014189"/>
                    <a:pt x="1278165" y="1018729"/>
                  </a:cubicBezTo>
                  <a:cubicBezTo>
                    <a:pt x="1273625" y="1023269"/>
                    <a:pt x="1267468" y="1025819"/>
                    <a:pt x="1261048" y="1025819"/>
                  </a:cubicBezTo>
                  <a:lnTo>
                    <a:pt x="24208" y="1025819"/>
                  </a:lnTo>
                  <a:cubicBezTo>
                    <a:pt x="17787" y="1025819"/>
                    <a:pt x="11630" y="1023269"/>
                    <a:pt x="7090" y="1018729"/>
                  </a:cubicBezTo>
                  <a:cubicBezTo>
                    <a:pt x="2550" y="1014189"/>
                    <a:pt x="0" y="1008032"/>
                    <a:pt x="0" y="1001612"/>
                  </a:cubicBezTo>
                  <a:lnTo>
                    <a:pt x="0" y="24208"/>
                  </a:lnTo>
                  <a:cubicBezTo>
                    <a:pt x="0" y="17787"/>
                    <a:pt x="2550" y="11630"/>
                    <a:pt x="7090" y="7090"/>
                  </a:cubicBezTo>
                  <a:cubicBezTo>
                    <a:pt x="11630" y="2550"/>
                    <a:pt x="17787" y="0"/>
                    <a:pt x="24208" y="0"/>
                  </a:cubicBezTo>
                  <a:close/>
                </a:path>
              </a:pathLst>
            </a:custGeom>
            <a:solidFill>
              <a:srgbClr val="C4A31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85255" cy="1063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014704" y="1028700"/>
            <a:ext cx="815378" cy="1052101"/>
          </a:xfrm>
          <a:custGeom>
            <a:avLst/>
            <a:gdLst/>
            <a:ahLst/>
            <a:cxnLst/>
            <a:rect l="l" t="t" r="r" b="b"/>
            <a:pathLst>
              <a:path w="815378" h="1052101">
                <a:moveTo>
                  <a:pt x="0" y="0"/>
                </a:moveTo>
                <a:lnTo>
                  <a:pt x="815379" y="0"/>
                </a:lnTo>
                <a:lnTo>
                  <a:pt x="815379" y="1052101"/>
                </a:lnTo>
                <a:lnTo>
                  <a:pt x="0" y="10521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44233" y="691271"/>
            <a:ext cx="5195367" cy="638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72"/>
              </a:lnSpc>
              <a:spcBef>
                <a:spcPct val="0"/>
              </a:spcBef>
            </a:pPr>
            <a:r>
              <a:rPr lang="en-US" sz="3843" b="1" spc="103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Depth Doesn’t Help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07048" y="4138586"/>
            <a:ext cx="1699552" cy="501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16"/>
              </a:lnSpc>
              <a:spcBef>
                <a:spcPct val="0"/>
              </a:spcBef>
            </a:pPr>
            <a:r>
              <a:rPr lang="en-US" sz="3043" b="1" i="1" spc="82" dirty="0">
                <a:solidFill>
                  <a:srgbClr val="000000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Reason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4184" y="5114925"/>
            <a:ext cx="6065898" cy="203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8088" lvl="1" indent="-264044" algn="l">
              <a:lnSpc>
                <a:spcPts val="3228"/>
              </a:lnSpc>
              <a:buFont typeface="Arial"/>
              <a:buChar char="•"/>
            </a:pPr>
            <a:r>
              <a:rPr lang="en-US" sz="2445" b="1" spc="66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Folding is mathematically ruled out : the AI can't ever choose it</a:t>
            </a:r>
          </a:p>
          <a:p>
            <a:pPr marL="528088" lvl="1" indent="-264044" algn="l">
              <a:lnSpc>
                <a:spcPts val="3228"/>
              </a:lnSpc>
              <a:buFont typeface="Arial"/>
              <a:buChar char="•"/>
            </a:pPr>
            <a:r>
              <a:rPr lang="en-US" sz="2445" b="1" spc="66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Deeper search just reorders two options, not real improvement</a:t>
            </a:r>
          </a:p>
          <a:p>
            <a:pPr marL="528088" lvl="1" indent="-264044" algn="l">
              <a:lnSpc>
                <a:spcPts val="3228"/>
              </a:lnSpc>
              <a:buFont typeface="Arial"/>
              <a:buChar char="•"/>
            </a:pPr>
            <a:r>
              <a:rPr lang="en-US" sz="2445" b="1" spc="66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Time cost jumps 64x for no real gain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0B70D2-1890-32F9-F6D6-D29013833F03}"/>
              </a:ext>
            </a:extLst>
          </p:cNvPr>
          <p:cNvSpPr txBox="1"/>
          <p:nvPr/>
        </p:nvSpPr>
        <p:spPr>
          <a:xfrm>
            <a:off x="2227822" y="9727362"/>
            <a:ext cx="14621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07 | Section 01   —   Nadira Halim Himla • Sajiah Islam Chowdhury • S. Anam Ridwan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Mohammad Robiul Islam Hasib •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Isnat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Hossain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04434" y="3137389"/>
            <a:ext cx="14481425" cy="1729674"/>
            <a:chOff x="0" y="0"/>
            <a:chExt cx="2979717" cy="355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79717" cy="355900"/>
            </a:xfrm>
            <a:custGeom>
              <a:avLst/>
              <a:gdLst/>
              <a:ahLst/>
              <a:cxnLst/>
              <a:rect l="l" t="t" r="r" b="b"/>
              <a:pathLst>
                <a:path w="2979717" h="355900">
                  <a:moveTo>
                    <a:pt x="10442" y="0"/>
                  </a:moveTo>
                  <a:lnTo>
                    <a:pt x="2969276" y="0"/>
                  </a:lnTo>
                  <a:cubicBezTo>
                    <a:pt x="2975042" y="0"/>
                    <a:pt x="2979717" y="4675"/>
                    <a:pt x="2979717" y="10442"/>
                  </a:cubicBezTo>
                  <a:lnTo>
                    <a:pt x="2979717" y="345458"/>
                  </a:lnTo>
                  <a:cubicBezTo>
                    <a:pt x="2979717" y="351225"/>
                    <a:pt x="2975042" y="355900"/>
                    <a:pt x="2969276" y="355900"/>
                  </a:cubicBezTo>
                  <a:lnTo>
                    <a:pt x="10442" y="355900"/>
                  </a:lnTo>
                  <a:cubicBezTo>
                    <a:pt x="4675" y="355900"/>
                    <a:pt x="0" y="351225"/>
                    <a:pt x="0" y="345458"/>
                  </a:cubicBezTo>
                  <a:lnTo>
                    <a:pt x="0" y="10442"/>
                  </a:lnTo>
                  <a:cubicBezTo>
                    <a:pt x="0" y="4675"/>
                    <a:pt x="4675" y="0"/>
                    <a:pt x="10442" y="0"/>
                  </a:cubicBezTo>
                  <a:close/>
                </a:path>
              </a:pathLst>
            </a:custGeom>
            <a:solidFill>
              <a:srgbClr val="C4A3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79717" cy="394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4434" y="6392021"/>
            <a:ext cx="14481425" cy="1729674"/>
            <a:chOff x="0" y="0"/>
            <a:chExt cx="2979717" cy="355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79717" cy="355900"/>
            </a:xfrm>
            <a:custGeom>
              <a:avLst/>
              <a:gdLst/>
              <a:ahLst/>
              <a:cxnLst/>
              <a:rect l="l" t="t" r="r" b="b"/>
              <a:pathLst>
                <a:path w="2979717" h="355900">
                  <a:moveTo>
                    <a:pt x="10442" y="0"/>
                  </a:moveTo>
                  <a:lnTo>
                    <a:pt x="2969276" y="0"/>
                  </a:lnTo>
                  <a:cubicBezTo>
                    <a:pt x="2975042" y="0"/>
                    <a:pt x="2979717" y="4675"/>
                    <a:pt x="2979717" y="10442"/>
                  </a:cubicBezTo>
                  <a:lnTo>
                    <a:pt x="2979717" y="345458"/>
                  </a:lnTo>
                  <a:cubicBezTo>
                    <a:pt x="2979717" y="351225"/>
                    <a:pt x="2975042" y="355900"/>
                    <a:pt x="2969276" y="355900"/>
                  </a:cubicBezTo>
                  <a:lnTo>
                    <a:pt x="10442" y="355900"/>
                  </a:lnTo>
                  <a:cubicBezTo>
                    <a:pt x="4675" y="355900"/>
                    <a:pt x="0" y="351225"/>
                    <a:pt x="0" y="345458"/>
                  </a:cubicBezTo>
                  <a:lnTo>
                    <a:pt x="0" y="10442"/>
                  </a:lnTo>
                  <a:cubicBezTo>
                    <a:pt x="0" y="4675"/>
                    <a:pt x="4675" y="0"/>
                    <a:pt x="10442" y="0"/>
                  </a:cubicBezTo>
                  <a:close/>
                </a:path>
              </a:pathLst>
            </a:custGeom>
            <a:solidFill>
              <a:srgbClr val="C4A31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79717" cy="394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185859" y="717370"/>
            <a:ext cx="852305" cy="843782"/>
          </a:xfrm>
          <a:custGeom>
            <a:avLst/>
            <a:gdLst/>
            <a:ahLst/>
            <a:cxnLst/>
            <a:rect l="l" t="t" r="r" b="b"/>
            <a:pathLst>
              <a:path w="852305" h="843782">
                <a:moveTo>
                  <a:pt x="0" y="0"/>
                </a:moveTo>
                <a:lnTo>
                  <a:pt x="852305" y="0"/>
                </a:lnTo>
                <a:lnTo>
                  <a:pt x="852305" y="843782"/>
                </a:lnTo>
                <a:lnTo>
                  <a:pt x="0" y="843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39940" y="669745"/>
            <a:ext cx="7266459" cy="688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8"/>
              </a:lnSpc>
              <a:spcBef>
                <a:spcPct val="0"/>
              </a:spcBef>
            </a:pPr>
            <a:r>
              <a:rPr lang="en-US" sz="4143" b="1" spc="111" dirty="0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Conclusion &amp; Future Work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5699" y="2234246"/>
            <a:ext cx="2261146" cy="53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2"/>
              </a:lnSpc>
              <a:spcBef>
                <a:spcPct val="0"/>
              </a:spcBef>
            </a:pPr>
            <a:r>
              <a:rPr lang="en-US" sz="3343" b="1" i="1" spc="90">
                <a:solidFill>
                  <a:srgbClr val="FFFFFF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4931" y="3546116"/>
            <a:ext cx="13720432" cy="87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The search works correctly and scales as expected  but it's held back by an evaluation function that makes folding impossible and depth ineffective.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2996" y="5638589"/>
            <a:ext cx="2732803" cy="471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52"/>
              </a:lnSpc>
              <a:spcBef>
                <a:spcPct val="0"/>
              </a:spcBef>
            </a:pPr>
            <a:r>
              <a:rPr lang="en-US" sz="2843" b="1" i="1" spc="76" dirty="0">
                <a:solidFill>
                  <a:srgbClr val="FFFFFF"/>
                </a:solidFill>
                <a:latin typeface="Balsamiq Sans Bold Italics"/>
                <a:ea typeface="Balsamiq Sans Bold Italics"/>
                <a:cs typeface="Balsamiq Sans Bold Italics"/>
                <a:sym typeface="Balsamiq Sans Bold Italics"/>
              </a:rPr>
              <a:t>Future Work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84931" y="6800748"/>
            <a:ext cx="13224005" cy="87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643" b="1" spc="71">
                <a:solidFill>
                  <a:srgbClr val="000000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Fix the evaluation function, merge the two hand evaluators, and connect the opponent model to the search.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68EE9A-C8AA-4B40-C1A9-753E5AE26DAB}"/>
              </a:ext>
            </a:extLst>
          </p:cNvPr>
          <p:cNvSpPr txBox="1"/>
          <p:nvPr/>
        </p:nvSpPr>
        <p:spPr>
          <a:xfrm>
            <a:off x="2162514" y="9825335"/>
            <a:ext cx="14621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07 | Section 01   —   Nadira Halim Himla • Sajiah Islam Chowdhury • S. Anam Ridwan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Mohammad Robiul Islam Hasib •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Isnat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Hossain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278362">
            <a:off x="5486400" y="4466844"/>
            <a:ext cx="7315200" cy="1353312"/>
          </a:xfrm>
          <a:custGeom>
            <a:avLst/>
            <a:gdLst/>
            <a:ahLst/>
            <a:cxnLst/>
            <a:rect l="l" t="t" r="r" b="b"/>
            <a:pathLst>
              <a:path w="7315200" h="1353312">
                <a:moveTo>
                  <a:pt x="0" y="0"/>
                </a:moveTo>
                <a:lnTo>
                  <a:pt x="7315200" y="0"/>
                </a:lnTo>
                <a:lnTo>
                  <a:pt x="7315200" y="1353312"/>
                </a:lnTo>
                <a:lnTo>
                  <a:pt x="0" y="1353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32866">
            <a:off x="991032" y="1272995"/>
            <a:ext cx="2846444" cy="1921350"/>
          </a:xfrm>
          <a:custGeom>
            <a:avLst/>
            <a:gdLst/>
            <a:ahLst/>
            <a:cxnLst/>
            <a:rect l="l" t="t" r="r" b="b"/>
            <a:pathLst>
              <a:path w="2846444" h="1921350">
                <a:moveTo>
                  <a:pt x="0" y="0"/>
                </a:moveTo>
                <a:lnTo>
                  <a:pt x="2846444" y="0"/>
                </a:lnTo>
                <a:lnTo>
                  <a:pt x="2846444" y="1921350"/>
                </a:lnTo>
                <a:lnTo>
                  <a:pt x="0" y="1921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61073">
            <a:off x="14519510" y="7410101"/>
            <a:ext cx="2623431" cy="1639645"/>
          </a:xfrm>
          <a:custGeom>
            <a:avLst/>
            <a:gdLst/>
            <a:ahLst/>
            <a:cxnLst/>
            <a:rect l="l" t="t" r="r" b="b"/>
            <a:pathLst>
              <a:path w="2623431" h="1639645">
                <a:moveTo>
                  <a:pt x="0" y="0"/>
                </a:moveTo>
                <a:lnTo>
                  <a:pt x="2623432" y="0"/>
                </a:lnTo>
                <a:lnTo>
                  <a:pt x="2623432" y="1639644"/>
                </a:lnTo>
                <a:lnTo>
                  <a:pt x="0" y="1639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 rot="683856">
            <a:off x="1159181" y="7921265"/>
            <a:ext cx="1760246" cy="1496209"/>
          </a:xfrm>
          <a:custGeom>
            <a:avLst/>
            <a:gdLst/>
            <a:ahLst/>
            <a:cxnLst/>
            <a:rect l="l" t="t" r="r" b="b"/>
            <a:pathLst>
              <a:path w="1760246" h="1496209">
                <a:moveTo>
                  <a:pt x="0" y="0"/>
                </a:moveTo>
                <a:lnTo>
                  <a:pt x="1760246" y="0"/>
                </a:lnTo>
                <a:lnTo>
                  <a:pt x="1760246" y="1496209"/>
                </a:lnTo>
                <a:lnTo>
                  <a:pt x="0" y="14962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75564" y="1281192"/>
            <a:ext cx="1511322" cy="1496209"/>
          </a:xfrm>
          <a:custGeom>
            <a:avLst/>
            <a:gdLst/>
            <a:ahLst/>
            <a:cxnLst/>
            <a:rect l="l" t="t" r="r" b="b"/>
            <a:pathLst>
              <a:path w="1511322" h="1496209">
                <a:moveTo>
                  <a:pt x="0" y="0"/>
                </a:moveTo>
                <a:lnTo>
                  <a:pt x="1511322" y="0"/>
                </a:lnTo>
                <a:lnTo>
                  <a:pt x="1511322" y="1496209"/>
                </a:lnTo>
                <a:lnTo>
                  <a:pt x="0" y="14962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55390-341A-3859-73E8-3B4F6BF9240C}"/>
              </a:ext>
            </a:extLst>
          </p:cNvPr>
          <p:cNvSpPr txBox="1"/>
          <p:nvPr/>
        </p:nvSpPr>
        <p:spPr>
          <a:xfrm>
            <a:off x="2209800" y="9718846"/>
            <a:ext cx="14621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07 | Section 01   —   Nadira Halim Himla • Sajiah Islam Chowdhury • S. Anam Ridwan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Shanto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Mohammad Robiul Islam Hasib •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Isnat</a:t>
            </a:r>
            <a:r>
              <a:rPr lang="en-US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Hossain </a:t>
            </a:r>
            <a:r>
              <a:rPr lang="en-US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Rijon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520</Words>
  <Application>Microsoft Office PowerPoint</Application>
  <PresentationFormat>Custom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Bobby Jones Condensed Soft</vt:lpstr>
      <vt:lpstr>Balsamiq Sans Bold</vt:lpstr>
      <vt:lpstr>Balsamiq Sans</vt:lpstr>
      <vt:lpstr>Arial</vt:lpstr>
      <vt:lpstr>Calibri</vt:lpstr>
      <vt:lpstr>Balsamiq Sans Italics</vt:lpstr>
      <vt:lpstr>Balsamiq Sans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poker_final_pptx</dc:title>
  <cp:lastModifiedBy>Sajiah Islam Chowdhury</cp:lastModifiedBy>
  <cp:revision>4</cp:revision>
  <dcterms:created xsi:type="dcterms:W3CDTF">2006-08-16T00:00:00Z</dcterms:created>
  <dcterms:modified xsi:type="dcterms:W3CDTF">2026-08-27T00:03:22Z</dcterms:modified>
  <dc:identifier>DAHTUWa6Ie4</dc:identifier>
</cp:coreProperties>
</file>